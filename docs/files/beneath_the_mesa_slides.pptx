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089bf0c2-ab24-52a0-d839-1b07a86aeddc}">
          <p14:sldIdLst>
            <p14:sldId id="256"/>
            <p14:sldId id="257"/>
            <p14:sldId id="258"/>
          </p14:sldIdLst>
        </p14:section>
        <p14:section name="Data and methods" id="{21fc28f6-378f-7f30-0ac7-485e4a68b3c1}">
          <p14:sldIdLst>
            <p14:sldId id="259"/>
            <p14:sldId id="260"/>
          </p14:sldIdLst>
        </p14:section>
        <p14:section name="Results" id="{1786a194-ac3d-6101-b678-f5da2c18ddd2}">
          <p14:sldIdLst>
            <p14:sldId id="261"/>
            <p14:sldId id="262"/>
            <p14:sldId id="263"/>
          </p14:sldIdLst>
        </p14:section>
        <p14:section name="Wrap-up" id="{a55235ca-f605-374b-4e84-a6c03be59f96}">
          <p14:sldIdLst>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20 seconds. Introduce the project title and every team member by full name (the rubric requires full names on this slide).
Timing guide for the 7-minute video: Title 0:20, Background 0:45, Research questions 0:40, Data 0:50, Methods 0:50, Results 1:30, Findings 1:00, Limitations 0:40, Links 0:25.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45 seconds. Replace the bullets with your own points. Add a map: Insert &gt; Pictures, drop it over the dashed box, then delete the box.</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Pick the three questions the results actually answer. The full list of nine is in the proposal; rename the card headings if you pick different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For each dataset: who published it, what it measures, the years covered, and how many wells or sites are in Sandoval County. Delete any card whose data the project didn't end up using.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50 seconds. One line per stage: where the data came from, how it was cleaned (see the Data cleaning page in the docs), what analysis was run, and what the Streamlit app shows.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30 seconds across all results slides. Duplicate this slide (right-click &gt; Duplicate Slide) for each chart. Rubric: the results slides must show graphs and screenshots of the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 minute. Keep the three levels of certainty separate. This is where to answer whether the data support the concern about Cuba's aquifer.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40 seconds. Name the data gaps and what the results can't support.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25 seconds. Rubric: the final slide must link to the datasets, the GitHub repository, and the Streamlit app. Once Dylan adds the exact download pages to the Data collection docs page, add them here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dark)-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Closing-(dark)-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7680960" cy="1097280"/>
          </a:xfrm>
          <a:prstGeom prst="rect">
            <a:avLst/>
          </a:prstGeom>
          <a:noFill/>
          <a:ln/>
        </p:spPr>
        <p:txBody>
          <a:bodyPr wrap="square" rtlCol="0"/>
          <a:lstStyle>
            <a:lvl1pPr algn="l" indent="0" marL="0">
              <a:buNone/>
              <a:defRPr lang="en-US" sz="5400" b="1" dirty="0">
                <a:solidFill>
                  <a:schemeClr val="bg1"/>
                </a:solidFill>
              </a:defRPr>
            </a:lvl1pPr>
          </a:lstStyle>
          <a:p>
            <a:pPr algn="l" indent="0" marL="0">
              <a:buNone/>
            </a:pPr>
            <a:r>
              <a:rPr lang="en-US" sz="5400" b="1" dirty="0">
                <a:solidFill>
                  <a:schemeClr val="bg1"/>
                </a:solidFill>
              </a:rPr>
              <a:t>Presentation title</a:t>
            </a:r>
            <a:endParaRPr lang="en-US" sz="5400" dirty="0"/>
          </a:p>
        </p:txBody>
      </p:sp>
      <p:sp>
        <p:nvSpPr>
          <p:cNvPr id="3" name="Text 0"/>
          <p:cNvSpPr/>
          <p:nvPr>
            <p:ph idx="101" type="body" hasCustomPrompt="1"/>
          </p:nvPr>
        </p:nvSpPr>
        <p:spPr>
          <a:xfrm>
            <a:off x="731520" y="2148840"/>
            <a:ext cx="694944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r>
              <a:rPr lang="en-US" sz="2000" dirty="0">
                <a:solidFill>
                  <a:schemeClr val="bg2"/>
                </a:solidFill>
              </a:rPr>
              <a:t>Subtitle</a:t>
            </a:r>
            <a:endParaRPr lang="en-US" sz="2000" dirty="0"/>
          </a:p>
        </p:txBody>
      </p:sp>
      <p:sp>
        <p:nvSpPr>
          <p:cNvPr id="4" name="Text 0"/>
          <p:cNvSpPr/>
          <p:nvPr>
            <p:ph idx="102" type="body" hasCustomPrompt="1"/>
          </p:nvPr>
        </p:nvSpPr>
        <p:spPr>
          <a:xfrm>
            <a:off x="731520" y="3291840"/>
            <a:ext cx="6949440" cy="685800"/>
          </a:xfrm>
          <a:prstGeom prst="rect">
            <a:avLst/>
          </a:prstGeom>
          <a:noFill/>
          <a:ln/>
        </p:spPr>
        <p:txBody>
          <a:bodyPr wrap="square" rtlCol="0"/>
          <a:lstStyle>
            <a:lvl1pPr indent="0" marL="0">
              <a:buNone/>
              <a:defRPr lang="en-US" sz="1600" b="1" dirty="0">
                <a:solidFill>
                  <a:schemeClr val="accent4"/>
                </a:solidFill>
              </a:defRPr>
            </a:lvl1pPr>
          </a:lstStyle>
          <a:p>
            <a:pPr indent="0" marL="0">
              <a:buNone/>
            </a:pPr>
            <a:r>
              <a:rPr lang="en-US" sz="1600" b="1" dirty="0">
                <a:solidFill>
                  <a:schemeClr val="accent4"/>
                </a:solidFill>
              </a:rPr>
              <a:t>Team members</a:t>
            </a:r>
            <a:endParaRPr lang="en-US" sz="1600" dirty="0"/>
          </a:p>
        </p:txBody>
      </p:sp>
      <p:sp>
        <p:nvSpPr>
          <p:cNvPr id="5" name="Text 0"/>
          <p:cNvSpPr/>
          <p:nvPr>
            <p:ph idx="103" type="body" hasCustomPrompt="1"/>
          </p:nvPr>
        </p:nvSpPr>
        <p:spPr>
          <a:xfrm>
            <a:off x="731520" y="4023360"/>
            <a:ext cx="6949440" cy="365760"/>
          </a:xfrm>
          <a:prstGeom prst="rect">
            <a:avLst/>
          </a:prstGeom>
          <a:noFill/>
          <a:ln/>
        </p:spPr>
        <p:txBody>
          <a:bodyPr wrap="square" rtlCol="0"/>
          <a:lstStyle>
            <a:lvl1pPr indent="0" marL="0">
              <a:buNone/>
              <a:defRPr lang="en-US" sz="1400" dirty="0">
                <a:solidFill>
                  <a:schemeClr val="accent3"/>
                </a:solidFill>
              </a:defRPr>
            </a:lvl1pPr>
          </a:lstStyle>
          <a:p>
            <a:pPr indent="0" marL="0">
              <a:buNone/>
            </a:pPr>
            <a:r>
              <a:rPr lang="en-US" sz="1400" dirty="0">
                <a:solidFill>
                  <a:schemeClr val="accent3"/>
                </a:solidFill>
              </a:rPr>
              <a:t>Course and date</a:t>
            </a:r>
            <a:endParaRPr lang="en-US" sz="1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only">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Slide title</a:t>
            </a:r>
            <a:endParaRPr lang="en-US" sz="3600" dirty="0"/>
          </a:p>
        </p:txBody>
      </p:sp>
      <p:pic>
        <p:nvPicPr>
          <p:cNvPr id="3" name="Image 0" descr="mark.png">    </p:cNvPr>
          <p:cNvPicPr>
            <a:picLocks noChangeAspect="1"/>
          </p:cNvPicPr>
          <p:nvPr/>
        </p:nvPicPr>
        <p:blipFill>
          <a:blip r:embed="rId1"/>
          <a:stretch>
            <a:fillRect/>
          </a:stretch>
        </p:blipFill>
        <p:spPr>
          <a:xfrm>
            <a:off x="548640" y="6336792"/>
            <a:ext cx="292608" cy="292608"/>
          </a:xfrm>
          <a:prstGeom prst="rect">
            <a:avLst/>
          </a:prstGeom>
        </p:spPr>
      </p:pic>
      <p:sp>
        <p:nvSpPr>
          <p:cNvPr id="4" name="Text 0"/>
          <p:cNvSpPr/>
          <p:nvPr/>
        </p:nvSpPr>
        <p:spPr>
          <a:xfrm>
            <a:off x="914400" y="6318504"/>
            <a:ext cx="5486400" cy="329184"/>
          </a:xfrm>
          <a:prstGeom prst="rect">
            <a:avLst/>
          </a:prstGeom>
          <a:noFill/>
          <a:ln/>
        </p:spPr>
        <p:txBody>
          <a:bodyPr wrap="square" lIns="0" tIns="0" rIns="0" bIns="0" rtlCol="0" anchor="ctr"/>
          <a:lstStyle/>
          <a:p>
            <a:pPr indent="0" marL="0">
              <a:buNone/>
            </a:pPr>
            <a:r>
              <a:rPr lang="en-US" sz="1000" dirty="0">
                <a:solidFill>
                  <a:schemeClr val="accent6"/>
                </a:solidFill>
              </a:rPr>
              <a:t>Beneath the Mesa  ·  ENG 220 Team 23</a:t>
            </a:r>
            <a:endParaRPr lang="en-US" sz="1000" dirty="0"/>
          </a:p>
        </p:txBody>
      </p:sp>
      <p:sp>
        <p:nvSpPr>
          <p:cNvPr id="25" name="Slide Number Placeholder 0"/>
          <p:cNvSpPr>
            <a:spLocks noGrp="1"/>
          </p:cNvSpPr>
          <p:nvPr>
            <p:ph type="sldNum" sz="quarter" idx="4294967295"/>
          </p:nvPr>
        </p:nvSpPr>
        <p:spPr>
          <a:xfrm>
            <a:off x="11091672" y="6318504"/>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accent6"/>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r>
              <a:rPr lang="en-US" sz="3600" b="1" dirty="0">
                <a:solidFill>
                  <a:schemeClr val="tx1"/>
                </a:solidFill>
              </a:rPr>
              <a:t>Slide title</a:t>
            </a:r>
            <a:endParaRPr lang="en-US" sz="3600" dirty="0"/>
          </a:p>
        </p:txBody>
      </p:sp>
      <p:sp>
        <p:nvSpPr>
          <p:cNvPr id="3" name="Text 0"/>
          <p:cNvSpPr/>
          <p:nvPr>
            <p:ph idx="101" type="body" hasCustomPrompt="1"/>
          </p:nvPr>
        </p:nvSpPr>
        <p:spPr>
          <a:xfrm>
            <a:off x="548640" y="1508760"/>
            <a:ext cx="5394960" cy="4434840"/>
          </a:xfrm>
          <a:prstGeom prst="rect">
            <a:avLst/>
          </a:prstGeom>
          <a:noFill/>
          <a:ln/>
        </p:spPr>
        <p:txBody>
          <a:bodyPr wrap="square" rtlCol="0"/>
          <a:lstStyle>
            <a:lvl1pPr indent="0" marL="0">
              <a:buNone/>
              <a:defRPr lang="en-US" sz="1800" dirty="0">
                <a:solidFill>
                  <a:schemeClr val="tx1"/>
                </a:solidFill>
              </a:defRPr>
            </a:lvl1pPr>
          </a:lstStyle>
          <a:p>
            <a:pPr indent="0" marL="0">
              <a:buNone/>
            </a:pPr>
            <a:r>
              <a:rPr lang="en-US" sz="1800" dirty="0">
                <a:solidFill>
                  <a:schemeClr val="tx1"/>
                </a:solidFill>
              </a:rPr>
              <a:t>Add bullet points</a:t>
            </a:r>
            <a:endParaRPr lang="en-US" sz="1800" dirty="0"/>
          </a:p>
        </p:txBody>
      </p:sp>
      <p:pic>
        <p:nvPicPr>
          <p:cNvPr id="4" name="Image 0" descr="mark.png">    </p:cNvPr>
          <p:cNvPicPr>
            <a:picLocks noChangeAspect="1"/>
          </p:cNvPicPr>
          <p:nvPr/>
        </p:nvPicPr>
        <p:blipFill>
          <a:blip r:embed="rId1"/>
          <a:stretch>
            <a:fillRect/>
          </a:stretch>
        </p:blipFill>
        <p:spPr>
          <a:xfrm>
            <a:off x="548640" y="6336792"/>
            <a:ext cx="292608" cy="292608"/>
          </a:xfrm>
          <a:prstGeom prst="rect">
            <a:avLst/>
          </a:prstGeom>
        </p:spPr>
      </p:pic>
      <p:sp>
        <p:nvSpPr>
          <p:cNvPr id="5" name="Text 0"/>
          <p:cNvSpPr/>
          <p:nvPr/>
        </p:nvSpPr>
        <p:spPr>
          <a:xfrm>
            <a:off x="914400" y="6318504"/>
            <a:ext cx="5486400" cy="329184"/>
          </a:xfrm>
          <a:prstGeom prst="rect">
            <a:avLst/>
          </a:prstGeom>
          <a:noFill/>
          <a:ln/>
        </p:spPr>
        <p:txBody>
          <a:bodyPr wrap="square" lIns="0" tIns="0" rIns="0" bIns="0" rtlCol="0" anchor="ctr"/>
          <a:lstStyle/>
          <a:p>
            <a:pPr indent="0" marL="0">
              <a:buNone/>
            </a:pPr>
            <a:r>
              <a:rPr lang="en-US" sz="1000" dirty="0">
                <a:solidFill>
                  <a:schemeClr val="accent6"/>
                </a:solidFill>
              </a:rPr>
              <a:t>Beneath the Mesa  ·  ENG 220 Team 23</a:t>
            </a:r>
            <a:endParaRPr lang="en-US" sz="1000" dirty="0"/>
          </a:p>
        </p:txBody>
      </p:sp>
      <p:sp>
        <p:nvSpPr>
          <p:cNvPr id="25" name="Slide Number Placeholder 0"/>
          <p:cNvSpPr>
            <a:spLocks noGrp="1"/>
          </p:cNvSpPr>
          <p:nvPr>
            <p:ph type="sldNum" sz="quarter" idx="4294967295"/>
          </p:nvPr>
        </p:nvSpPr>
        <p:spPr>
          <a:xfrm>
            <a:off x="11091672" y="6318504"/>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accent6"/>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 (dark)">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r>
              <a:rPr lang="en-US" sz="3600" b="1" dirty="0">
                <a:solidFill>
                  <a:schemeClr val="bg1"/>
                </a:solidFill>
              </a:rPr>
              <a:t>Closing title</a:t>
            </a:r>
            <a:endParaRPr lang="en-US" sz="36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18504"/>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accent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slideLayout" Target="../slideLayouts/slideLayout3.xml"/><Relationship Id="rId9"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2" Type="http://schemas.openxmlformats.org/officeDocument/2006/relationships/hyperlink" Target="https://github.com/pdjordj11/eng_220_aquifer_project" TargetMode="External"/><Relationship Id="rId4" Type="http://schemas.openxmlformats.org/officeDocument/2006/relationships/hyperlink" Target="https://eng220aquiferproject.streamlit.app/" TargetMode="External"/><Relationship Id="rId6" Type="http://schemas.openxmlformats.org/officeDocument/2006/relationships/hyperlink" Target="https://pdjordj11.github.io/eng_220_aquifer_project/" TargetMode="External"/><Relationship Id="rId8" Type="http://schemas.openxmlformats.org/officeDocument/2006/relationships/hyperlink" Target="https://github.com/pdjordj11/eng_220_aquifer_project/tree/main/data" TargetMode="External"/><Relationship Id="rId1" Type="http://schemas.openxmlformats.org/officeDocument/2006/relationships/image" Target="../media/image-9-1.png"/><Relationship Id="rId3" Type="http://schemas.openxmlformats.org/officeDocument/2006/relationships/image" Target="../media/image-9-2.png"/><Relationship Id="rId5" Type="http://schemas.openxmlformats.org/officeDocument/2006/relationships/image" Target="../media/image-9-3.png"/><Relationship Id="rId7" Type="http://schemas.openxmlformats.org/officeDocument/2006/relationships/image" Target="../media/image-9-4.png"/><Relationship Id="rId9" Type="http://schemas.openxmlformats.org/officeDocument/2006/relationships/slideLayout" Target="../slideLayouts/slideLayout5.xml"/><Relationship Id="rId10"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914400"/>
            <a:ext cx="7680960" cy="1097280"/>
          </a:xfrm>
          <a:prstGeom prst="rect">
            <a:avLst/>
          </a:prstGeom>
          <a:noFill/>
          <a:ln/>
        </p:spPr>
        <p:txBody>
          <a:bodyPr wrap="square" lIns="0" tIns="0" rIns="0" bIns="0" rtlCol="0" anchor="b"/>
          <a:lstStyle/>
          <a:p>
            <a:pPr algn="l" indent="0" marL="0">
              <a:buNone/>
            </a:pPr>
            <a:r>
              <a:rPr lang="en-US" sz="5400" b="1" dirty="0">
                <a:solidFill>
                  <a:schemeClr val="bg1"/>
                </a:solidFill>
              </a:rPr>
              <a:t>Beneath the Mesa</a:t>
            </a:r>
            <a:endParaRPr lang="en-US" sz="5400" dirty="0"/>
          </a:p>
        </p:txBody>
      </p:sp>
      <p:sp>
        <p:nvSpPr>
          <p:cNvPr id="3" name="Text 0"/>
          <p:cNvSpPr/>
          <p:nvPr>
            <p:ph idx="101" type="body" hasCustomPrompt="1"/>
          </p:nvPr>
        </p:nvSpPr>
        <p:spPr>
          <a:xfrm>
            <a:off x="731520" y="2148840"/>
            <a:ext cx="6949440" cy="914400"/>
          </a:xfrm>
          <a:prstGeom prst="rect">
            <a:avLst/>
          </a:prstGeom>
          <a:noFill/>
          <a:ln/>
        </p:spPr>
        <p:txBody>
          <a:bodyPr wrap="square" lIns="0" tIns="0" rIns="0" bIns="0" rtlCol="0" anchor="t"/>
          <a:lstStyle/>
          <a:p>
            <a:pPr indent="0" marL="0">
              <a:buNone/>
            </a:pPr>
            <a:r>
              <a:rPr lang="en-US" sz="2000" dirty="0">
                <a:solidFill>
                  <a:schemeClr val="bg2"/>
                </a:solidFill>
              </a:rPr>
              <a:t>Assessing Aquifer, Well, and Acequia Water Resources Across Sandoval County, New Mexico</a:t>
            </a:r>
            <a:endParaRPr lang="en-US" sz="2000" dirty="0"/>
          </a:p>
        </p:txBody>
      </p:sp>
      <p:sp>
        <p:nvSpPr>
          <p:cNvPr id="4" name="Text 0"/>
          <p:cNvSpPr/>
          <p:nvPr>
            <p:ph idx="102" type="body" hasCustomPrompt="1"/>
          </p:nvPr>
        </p:nvSpPr>
        <p:spPr>
          <a:xfrm>
            <a:off x="731520" y="3291840"/>
            <a:ext cx="6949440" cy="685800"/>
          </a:xfrm>
          <a:prstGeom prst="rect">
            <a:avLst/>
          </a:prstGeom>
          <a:noFill/>
          <a:ln/>
        </p:spPr>
        <p:txBody>
          <a:bodyPr wrap="square" lIns="0" tIns="0" rIns="0" bIns="0" rtlCol="0" anchor="t"/>
          <a:lstStyle/>
          <a:p>
            <a:pPr indent="0" marL="0">
              <a:buNone/>
            </a:pPr>
            <a:r>
              <a:rPr lang="en-US" sz="1600" b="1" dirty="0">
                <a:solidFill>
                  <a:schemeClr val="accent4"/>
                </a:solidFill>
              </a:rPr>
              <a:t>Petar Djordjevic (PM)  ·  Meckrem Yousef  ·  James Wanueka</a:t>
            </a:r>
            <a:endParaRPr lang="en-US" sz="1600" dirty="0"/>
          </a:p>
          <a:p>
            <a:pPr indent="0" marL="0">
              <a:buNone/>
            </a:pPr>
            <a:r>
              <a:rPr lang="en-US" sz="1600" b="1" dirty="0">
                <a:solidFill>
                  <a:schemeClr val="accent4"/>
                </a:solidFill>
              </a:rPr>
              <a:t>Dylan Gonzales  ·  Micah Watkins</a:t>
            </a:r>
            <a:endParaRPr lang="en-US" sz="1600" dirty="0"/>
          </a:p>
        </p:txBody>
      </p:sp>
      <p:sp>
        <p:nvSpPr>
          <p:cNvPr id="5" name="Text 0"/>
          <p:cNvSpPr/>
          <p:nvPr>
            <p:ph idx="103" type="body" hasCustomPrompt="1"/>
          </p:nvPr>
        </p:nvSpPr>
        <p:spPr>
          <a:xfrm>
            <a:off x="731520" y="4023360"/>
            <a:ext cx="6949440" cy="365760"/>
          </a:xfrm>
          <a:prstGeom prst="rect">
            <a:avLst/>
          </a:prstGeom>
          <a:noFill/>
          <a:ln/>
        </p:spPr>
        <p:txBody>
          <a:bodyPr wrap="square" lIns="0" tIns="0" rIns="0" bIns="0" rtlCol="0" anchor="t"/>
          <a:lstStyle/>
          <a:p>
            <a:pPr indent="0" marL="0">
              <a:buNone/>
            </a:pPr>
            <a:r>
              <a:rPr lang="en-US" sz="1400" dirty="0">
                <a:solidFill>
                  <a:schemeClr val="accent3"/>
                </a:solidFill>
              </a:rPr>
              <a:t>ENG 220  ·  Team 23  ·  Instructor: Ramiro Jordan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Background</a:t>
            </a:r>
            <a:endParaRPr lang="en-US" sz="3600" dirty="0"/>
          </a:p>
        </p:txBody>
      </p:sp>
      <p:sp>
        <p:nvSpPr>
          <p:cNvPr id="3" name="Text 0"/>
          <p:cNvSpPr/>
          <p:nvPr>
            <p:ph idx="101" type="body" hasCustomPrompt="1"/>
          </p:nvPr>
        </p:nvSpPr>
        <p:spPr>
          <a:xfrm>
            <a:off x="548640" y="1508760"/>
            <a:ext cx="5394960" cy="443484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Where Sandoval County's water comes from: wells, rivers, and acequias</a:t>
            </a:r>
            <a:endParaRPr lang="en-US" sz="1800" dirty="0"/>
          </a:p>
          <a:p>
            <a:pPr marL="342900" indent="-342900">
              <a:spcAft>
                <a:spcPts val="1400"/>
              </a:spcAft>
              <a:buSzPct val="100000"/>
              <a:buChar char="•"/>
            </a:pPr>
            <a:r>
              <a:rPr lang="en-US" sz="1800" dirty="0">
                <a:solidFill>
                  <a:schemeClr val="tx1"/>
                </a:solidFill>
              </a:rPr>
              <a:t>Why the county spans several aquifer systems</a:t>
            </a:r>
            <a:endParaRPr lang="en-US" sz="1800" dirty="0"/>
          </a:p>
          <a:p>
            <a:pPr marL="342900" indent="-342900">
              <a:spcAft>
                <a:spcPts val="1400"/>
              </a:spcAft>
              <a:buSzPct val="100000"/>
              <a:buChar char="•"/>
            </a:pPr>
            <a:r>
              <a:rPr lang="en-US" sz="1800" dirty="0">
                <a:solidFill>
                  <a:schemeClr val="tx1"/>
                </a:solidFill>
              </a:rPr>
              <a:t>The concern: declining groundwater near Cuba</a:t>
            </a:r>
            <a:endParaRPr lang="en-US" sz="1800" dirty="0"/>
          </a:p>
          <a:p>
            <a:pPr marL="342900" indent="-342900">
              <a:spcAft>
                <a:spcPts val="1400"/>
              </a:spcAft>
              <a:buSzPct val="100000"/>
              <a:buChar char="•"/>
            </a:pPr>
            <a:r>
              <a:rPr lang="en-US" sz="1800" dirty="0">
                <a:solidFill>
                  <a:schemeClr val="tx1"/>
                </a:solidFill>
              </a:rPr>
              <a:t>What this project set out to check</a:t>
            </a:r>
            <a:endParaRPr lang="en-US" sz="1800" dirty="0"/>
          </a:p>
        </p:txBody>
      </p:sp>
      <p:sp>
        <p:nvSpPr>
          <p:cNvPr id="4" name="Drop zone (delete after adding your image)"/>
          <p:cNvSpPr/>
          <p:nvPr/>
        </p:nvSpPr>
        <p:spPr>
          <a:xfrm>
            <a:off x="6355080" y="1508760"/>
            <a:ext cx="5285232" cy="4434840"/>
          </a:xfrm>
          <a:prstGeom prst="roundRect">
            <a:avLst>
              <a:gd name="adj" fmla="val 2474"/>
            </a:avLst>
          </a:prstGeom>
          <a:solidFill>
            <a:schemeClr val="bg2"/>
          </a:solidFill>
          <a:ln w="19050">
            <a:solidFill>
              <a:schemeClr val="accent3"/>
            </a:solidFill>
            <a:prstDash val="dash"/>
          </a:ln>
        </p:spPr>
      </p:sp>
      <p:sp>
        <p:nvSpPr>
          <p:cNvPr id="5" name="Drop zone circle"/>
          <p:cNvSpPr/>
          <p:nvPr/>
        </p:nvSpPr>
        <p:spPr>
          <a:xfrm>
            <a:off x="8586216" y="2857500"/>
            <a:ext cx="822960" cy="822960"/>
          </a:xfrm>
          <a:prstGeom prst="ellipse">
            <a:avLst/>
          </a:prstGeom>
          <a:solidFill>
            <a:schemeClr val="bg1"/>
          </a:solidFill>
          <a:ln/>
        </p:spPr>
      </p:sp>
      <p:pic>
        <p:nvPicPr>
          <p:cNvPr id="6" name="Drop zone icon" descr="preencoded.png">    </p:cNvPr>
          <p:cNvPicPr>
            <a:picLocks noChangeAspect="1"/>
          </p:cNvPicPr>
          <p:nvPr/>
        </p:nvPicPr>
        <p:blipFill>
          <a:blip r:embed="rId1"/>
          <a:stretch>
            <a:fillRect/>
          </a:stretch>
        </p:blipFill>
        <p:spPr>
          <a:xfrm>
            <a:off x="8791956" y="3063240"/>
            <a:ext cx="411480" cy="411480"/>
          </a:xfrm>
          <a:prstGeom prst="rect">
            <a:avLst/>
          </a:prstGeom>
        </p:spPr>
      </p:pic>
      <p:sp>
        <p:nvSpPr>
          <p:cNvPr id="7" name="Drop zone label"/>
          <p:cNvSpPr txBox="1"/>
          <p:nvPr/>
        </p:nvSpPr>
        <p:spPr>
          <a:xfrm>
            <a:off x="6720840" y="3817620"/>
            <a:ext cx="4553712" cy="868680"/>
          </a:xfrm>
          <a:prstGeom prst="rect">
            <a:avLst/>
          </a:prstGeom>
          <a:noFill/>
          <a:ln/>
        </p:spPr>
        <p:txBody>
          <a:bodyPr wrap="square" lIns="0" tIns="0" rIns="0" bIns="0" rtlCol="0" anchor="t"/>
          <a:lstStyle/>
          <a:p>
            <a:pPr algn="ctr" indent="0" marL="0">
              <a:spcAft>
                <a:spcPts val="400"/>
              </a:spcAft>
              <a:buNone/>
            </a:pPr>
            <a:r>
              <a:rPr lang="en-US" sz="1800" b="1" dirty="0">
                <a:solidFill>
                  <a:schemeClr val="tx1"/>
                </a:solidFill>
              </a:rPr>
              <a:t>Map of the study area</a:t>
            </a:r>
            <a:endParaRPr lang="en-US" sz="1800" dirty="0"/>
          </a:p>
          <a:p>
            <a:pPr algn="ctr" indent="0" marL="0">
              <a:spcAft>
                <a:spcPts val="400"/>
              </a:spcAft>
              <a:buNone/>
            </a:pPr>
            <a:r>
              <a:rPr lang="en-US" sz="1400" dirty="0">
                <a:solidFill>
                  <a:schemeClr val="accent6"/>
                </a:solidFill>
              </a:rPr>
              <a:t>Sandoval County with Cuba marked</a:t>
            </a:r>
            <a:endParaRPr lang="en-US" sz="1800" dirty="0"/>
          </a:p>
        </p:txBody>
      </p:sp>
      <p:sp>
        <p:nvSpPr>
          <p:cNvPr id="25" name="Slide Number Placeholder 0"/>
          <p:cNvSpPr>
            <a:spLocks noGrp="1"/>
          </p:cNvSpPr>
          <p:nvPr>
            <p:ph type="sldNum" sz="quarter" idx="4294967295"/>
          </p:nvPr>
        </p:nvSpPr>
        <p:spPr>
          <a:xfrm>
            <a:off x="11091672" y="6318504"/>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accent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Research questions</a:t>
            </a:r>
            <a:endParaRPr lang="en-US" sz="3600" dirty="0"/>
          </a:p>
        </p:txBody>
      </p:sp>
      <p:sp>
        <p:nvSpPr>
          <p:cNvPr id="3" name="Question 1 card"/>
          <p:cNvSpPr/>
          <p:nvPr/>
        </p:nvSpPr>
        <p:spPr>
          <a:xfrm>
            <a:off x="548640" y="1600200"/>
            <a:ext cx="3529584" cy="4206240"/>
          </a:xfrm>
          <a:prstGeom prst="roundRect">
            <a:avLst>
              <a:gd name="adj" fmla="val 3109"/>
            </a:avLst>
          </a:prstGeom>
          <a:solidFill>
            <a:schemeClr val="bg2"/>
          </a:solidFill>
          <a:ln/>
        </p:spPr>
      </p:sp>
      <p:sp>
        <p:nvSpPr>
          <p:cNvPr id="4" name="Shape 2"/>
          <p:cNvSpPr/>
          <p:nvPr/>
        </p:nvSpPr>
        <p:spPr>
          <a:xfrm>
            <a:off x="868680" y="1965960"/>
            <a:ext cx="731520" cy="731520"/>
          </a:xfrm>
          <a:prstGeom prst="ellipse">
            <a:avLst/>
          </a:prstGeom>
          <a:solidFill>
            <a:schemeClr val="accent1"/>
          </a:solidFill>
          <a:ln/>
        </p:spPr>
      </p:sp>
      <p:sp>
        <p:nvSpPr>
          <p:cNvPr id="5" name="Text 3"/>
          <p:cNvSpPr txBox="1"/>
          <p:nvPr/>
        </p:nvSpPr>
        <p:spPr>
          <a:xfrm>
            <a:off x="868680" y="196596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1</a:t>
            </a:r>
            <a:endParaRPr lang="en-US" sz="2800" dirty="0"/>
          </a:p>
        </p:txBody>
      </p:sp>
      <p:sp>
        <p:nvSpPr>
          <p:cNvPr id="6" name="Text 4"/>
          <p:cNvSpPr txBox="1"/>
          <p:nvPr/>
        </p:nvSpPr>
        <p:spPr>
          <a:xfrm>
            <a:off x="868680" y="2926080"/>
            <a:ext cx="2889504" cy="73152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Groundwater levels</a:t>
            </a:r>
            <a:endParaRPr lang="en-US" sz="2200" dirty="0"/>
          </a:p>
        </p:txBody>
      </p:sp>
      <p:sp>
        <p:nvSpPr>
          <p:cNvPr id="7" name="Text 5"/>
          <p:cNvSpPr txBox="1"/>
          <p:nvPr/>
        </p:nvSpPr>
        <p:spPr>
          <a:xfrm>
            <a:off x="868680" y="3886200"/>
            <a:ext cx="2889504" cy="1645920"/>
          </a:xfrm>
          <a:prstGeom prst="rect">
            <a:avLst/>
          </a:prstGeom>
          <a:noFill/>
          <a:ln/>
        </p:spPr>
        <p:txBody>
          <a:bodyPr wrap="square" lIns="0" tIns="0" rIns="0" bIns="0" rtlCol="0" anchor="t"/>
          <a:lstStyle/>
          <a:p>
            <a:pPr indent="0" marL="0">
              <a:buNone/>
            </a:pPr>
            <a:r>
              <a:rPr lang="en-US" sz="1600" dirty="0">
                <a:solidFill>
                  <a:schemeClr val="tx2"/>
                </a:solidFill>
              </a:rPr>
              <a:t>Write the question in one sentence, using the wording from the proposal.</a:t>
            </a:r>
            <a:endParaRPr lang="en-US" sz="1600" dirty="0"/>
          </a:p>
        </p:txBody>
      </p:sp>
      <p:sp>
        <p:nvSpPr>
          <p:cNvPr id="8" name="Question 2 card"/>
          <p:cNvSpPr/>
          <p:nvPr/>
        </p:nvSpPr>
        <p:spPr>
          <a:xfrm>
            <a:off x="4334256" y="1600200"/>
            <a:ext cx="3529584" cy="4206240"/>
          </a:xfrm>
          <a:prstGeom prst="roundRect">
            <a:avLst>
              <a:gd name="adj" fmla="val 3109"/>
            </a:avLst>
          </a:prstGeom>
          <a:solidFill>
            <a:schemeClr val="bg2"/>
          </a:solidFill>
          <a:ln/>
        </p:spPr>
      </p:sp>
      <p:sp>
        <p:nvSpPr>
          <p:cNvPr id="9" name="Shape 7"/>
          <p:cNvSpPr/>
          <p:nvPr/>
        </p:nvSpPr>
        <p:spPr>
          <a:xfrm>
            <a:off x="4654296" y="1965960"/>
            <a:ext cx="731520" cy="731520"/>
          </a:xfrm>
          <a:prstGeom prst="ellipse">
            <a:avLst/>
          </a:prstGeom>
          <a:solidFill>
            <a:schemeClr val="accent1"/>
          </a:solidFill>
          <a:ln/>
        </p:spPr>
      </p:sp>
      <p:sp>
        <p:nvSpPr>
          <p:cNvPr id="10" name="Text 8"/>
          <p:cNvSpPr txBox="1"/>
          <p:nvPr/>
        </p:nvSpPr>
        <p:spPr>
          <a:xfrm>
            <a:off x="4654296" y="196596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2</a:t>
            </a:r>
            <a:endParaRPr lang="en-US" sz="2800" dirty="0"/>
          </a:p>
        </p:txBody>
      </p:sp>
      <p:sp>
        <p:nvSpPr>
          <p:cNvPr id="11" name="Text 9"/>
          <p:cNvSpPr txBox="1"/>
          <p:nvPr/>
        </p:nvSpPr>
        <p:spPr>
          <a:xfrm>
            <a:off x="4654296" y="2926080"/>
            <a:ext cx="2889504" cy="73152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Cuba's aquifers</a:t>
            </a:r>
            <a:endParaRPr lang="en-US" sz="2200" dirty="0"/>
          </a:p>
        </p:txBody>
      </p:sp>
      <p:sp>
        <p:nvSpPr>
          <p:cNvPr id="12" name="Text 10"/>
          <p:cNvSpPr txBox="1"/>
          <p:nvPr/>
        </p:nvSpPr>
        <p:spPr>
          <a:xfrm>
            <a:off x="4654296" y="3886200"/>
            <a:ext cx="2889504" cy="1645920"/>
          </a:xfrm>
          <a:prstGeom prst="rect">
            <a:avLst/>
          </a:prstGeom>
          <a:noFill/>
          <a:ln/>
        </p:spPr>
        <p:txBody>
          <a:bodyPr wrap="square" lIns="0" tIns="0" rIns="0" bIns="0" rtlCol="0" anchor="t"/>
          <a:lstStyle/>
          <a:p>
            <a:pPr indent="0" marL="0">
              <a:buNone/>
            </a:pPr>
            <a:r>
              <a:rPr lang="en-US" sz="1600" dirty="0">
                <a:solidFill>
                  <a:schemeClr val="tx2"/>
                </a:solidFill>
              </a:rPr>
              <a:t>Write the question in one sentence, using the wording from the proposal.</a:t>
            </a:r>
            <a:endParaRPr lang="en-US" sz="1600" dirty="0"/>
          </a:p>
        </p:txBody>
      </p:sp>
      <p:sp>
        <p:nvSpPr>
          <p:cNvPr id="13" name="Question 3 card"/>
          <p:cNvSpPr/>
          <p:nvPr/>
        </p:nvSpPr>
        <p:spPr>
          <a:xfrm>
            <a:off x="8119872" y="1600200"/>
            <a:ext cx="3529584" cy="4206240"/>
          </a:xfrm>
          <a:prstGeom prst="roundRect">
            <a:avLst>
              <a:gd name="adj" fmla="val 3109"/>
            </a:avLst>
          </a:prstGeom>
          <a:solidFill>
            <a:schemeClr val="bg2"/>
          </a:solidFill>
          <a:ln/>
        </p:spPr>
      </p:sp>
      <p:sp>
        <p:nvSpPr>
          <p:cNvPr id="14" name="Shape 12"/>
          <p:cNvSpPr/>
          <p:nvPr/>
        </p:nvSpPr>
        <p:spPr>
          <a:xfrm>
            <a:off x="8439912" y="1965960"/>
            <a:ext cx="731520" cy="731520"/>
          </a:xfrm>
          <a:prstGeom prst="ellipse">
            <a:avLst/>
          </a:prstGeom>
          <a:solidFill>
            <a:schemeClr val="accent1"/>
          </a:solidFill>
          <a:ln/>
        </p:spPr>
      </p:sp>
      <p:sp>
        <p:nvSpPr>
          <p:cNvPr id="15" name="Text 13"/>
          <p:cNvSpPr txBox="1"/>
          <p:nvPr/>
        </p:nvSpPr>
        <p:spPr>
          <a:xfrm>
            <a:off x="8439912" y="1965960"/>
            <a:ext cx="731520" cy="731520"/>
          </a:xfrm>
          <a:prstGeom prst="rect">
            <a:avLst/>
          </a:prstGeom>
          <a:noFill/>
          <a:ln/>
        </p:spPr>
        <p:txBody>
          <a:bodyPr wrap="square" lIns="0" tIns="0" rIns="0" bIns="0" rtlCol="0" anchor="ctr"/>
          <a:lstStyle/>
          <a:p>
            <a:pPr algn="ctr" indent="0" marL="0">
              <a:buNone/>
            </a:pPr>
            <a:r>
              <a:rPr lang="en-US" sz="2800" b="1" dirty="0">
                <a:solidFill>
                  <a:schemeClr val="bg1"/>
                </a:solidFill>
                <a:latin typeface="Cambria" pitchFamily="34" charset="0"/>
                <a:ea typeface="Cambria" pitchFamily="34" charset="-122"/>
                <a:cs typeface="Cambria" pitchFamily="34" charset="-120"/>
              </a:rPr>
              <a:t>3</a:t>
            </a:r>
            <a:endParaRPr lang="en-US" sz="2800" dirty="0"/>
          </a:p>
        </p:txBody>
      </p:sp>
      <p:sp>
        <p:nvSpPr>
          <p:cNvPr id="16" name="Text 14"/>
          <p:cNvSpPr txBox="1"/>
          <p:nvPr/>
        </p:nvSpPr>
        <p:spPr>
          <a:xfrm>
            <a:off x="8439912" y="2926080"/>
            <a:ext cx="2889504" cy="73152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Water quality and acequias</a:t>
            </a:r>
            <a:endParaRPr lang="en-US" sz="2200" dirty="0"/>
          </a:p>
        </p:txBody>
      </p:sp>
      <p:sp>
        <p:nvSpPr>
          <p:cNvPr id="17" name="Text 15"/>
          <p:cNvSpPr txBox="1"/>
          <p:nvPr/>
        </p:nvSpPr>
        <p:spPr>
          <a:xfrm>
            <a:off x="8439912" y="3886200"/>
            <a:ext cx="2889504" cy="1645920"/>
          </a:xfrm>
          <a:prstGeom prst="rect">
            <a:avLst/>
          </a:prstGeom>
          <a:noFill/>
          <a:ln/>
        </p:spPr>
        <p:txBody>
          <a:bodyPr wrap="square" lIns="0" tIns="0" rIns="0" bIns="0" rtlCol="0" anchor="t"/>
          <a:lstStyle/>
          <a:p>
            <a:pPr indent="0" marL="0">
              <a:buNone/>
            </a:pPr>
            <a:r>
              <a:rPr lang="en-US" sz="1600" dirty="0">
                <a:solidFill>
                  <a:schemeClr val="tx2"/>
                </a:solidFill>
              </a:rPr>
              <a:t>Write the question in one sentence, using the wording from the proposal.</a:t>
            </a:r>
            <a:endParaRPr lang="en-US" sz="1600" dirty="0"/>
          </a:p>
        </p:txBody>
      </p:sp>
      <p:sp>
        <p:nvSpPr>
          <p:cNvPr id="25" name="Slide Number Placeholder 0"/>
          <p:cNvSpPr>
            <a:spLocks noGrp="1"/>
          </p:cNvSpPr>
          <p:nvPr>
            <p:ph type="sldNum" sz="quarter" idx="4294967295"/>
          </p:nvPr>
        </p:nvSpPr>
        <p:spPr>
          <a:xfrm>
            <a:off x="11091672" y="6318504"/>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accent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Data</a:t>
            </a:r>
            <a:endParaRPr lang="en-US" sz="3600" dirty="0"/>
          </a:p>
        </p:txBody>
      </p:sp>
      <p:sp>
        <p:nvSpPr>
          <p:cNvPr id="3" name="Groundwater levels card"/>
          <p:cNvSpPr/>
          <p:nvPr/>
        </p:nvSpPr>
        <p:spPr>
          <a:xfrm>
            <a:off x="548640" y="1600200"/>
            <a:ext cx="5413248" cy="2011680"/>
          </a:xfrm>
          <a:prstGeom prst="roundRect">
            <a:avLst>
              <a:gd name="adj" fmla="val 5455"/>
            </a:avLst>
          </a:prstGeom>
          <a:solidFill>
            <a:schemeClr val="bg2"/>
          </a:solidFill>
          <a:ln/>
        </p:spPr>
      </p:sp>
      <p:sp>
        <p:nvSpPr>
          <p:cNvPr id="4" name="Groundwater levels circle"/>
          <p:cNvSpPr/>
          <p:nvPr/>
        </p:nvSpPr>
        <p:spPr>
          <a:xfrm>
            <a:off x="868680" y="1965960"/>
            <a:ext cx="822960" cy="822960"/>
          </a:xfrm>
          <a:prstGeom prst="ellipse">
            <a:avLst/>
          </a:prstGeom>
          <a:solidFill>
            <a:schemeClr val="accent1"/>
          </a:solidFill>
          <a:ln/>
        </p:spPr>
      </p:sp>
      <p:pic>
        <p:nvPicPr>
          <p:cNvPr id="5" name="Groundwater levels icon" descr="preencoded.png">    </p:cNvPr>
          <p:cNvPicPr>
            <a:picLocks noChangeAspect="1"/>
          </p:cNvPicPr>
          <p:nvPr/>
        </p:nvPicPr>
        <p:blipFill>
          <a:blip r:embed="rId1"/>
          <a:stretch>
            <a:fillRect/>
          </a:stretch>
        </p:blipFill>
        <p:spPr>
          <a:xfrm>
            <a:off x="1074420" y="2171700"/>
            <a:ext cx="411480" cy="411480"/>
          </a:xfrm>
          <a:prstGeom prst="rect">
            <a:avLst/>
          </a:prstGeom>
        </p:spPr>
      </p:pic>
      <p:sp>
        <p:nvSpPr>
          <p:cNvPr id="6" name="Text 3"/>
          <p:cNvSpPr txBox="1"/>
          <p:nvPr/>
        </p:nvSpPr>
        <p:spPr>
          <a:xfrm>
            <a:off x="1965960" y="1965960"/>
            <a:ext cx="367588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Groundwater levels</a:t>
            </a:r>
            <a:endParaRPr lang="en-US" sz="2200" dirty="0"/>
          </a:p>
        </p:txBody>
      </p:sp>
      <p:sp>
        <p:nvSpPr>
          <p:cNvPr id="7" name="Text 4"/>
          <p:cNvSpPr txBox="1"/>
          <p:nvPr/>
        </p:nvSpPr>
        <p:spPr>
          <a:xfrm>
            <a:off x="1965960" y="2496312"/>
            <a:ext cx="3675888" cy="822960"/>
          </a:xfrm>
          <a:prstGeom prst="rect">
            <a:avLst/>
          </a:prstGeom>
          <a:noFill/>
          <a:ln/>
        </p:spPr>
        <p:txBody>
          <a:bodyPr wrap="square" lIns="0" tIns="0" rIns="0" bIns="0" rtlCol="0" anchor="t"/>
          <a:lstStyle/>
          <a:p>
            <a:pPr indent="0" marL="0">
              <a:buNone/>
            </a:pPr>
            <a:r>
              <a:rPr lang="en-US" sz="1600" dirty="0">
                <a:solidFill>
                  <a:schemeClr val="tx2"/>
                </a:solidFill>
              </a:rPr>
              <a:t>Source, years covered, and number of sites</a:t>
            </a:r>
            <a:endParaRPr lang="en-US" sz="1600" dirty="0"/>
          </a:p>
        </p:txBody>
      </p:sp>
      <p:sp>
        <p:nvSpPr>
          <p:cNvPr id="8" name="Aquifer tests card"/>
          <p:cNvSpPr/>
          <p:nvPr/>
        </p:nvSpPr>
        <p:spPr>
          <a:xfrm>
            <a:off x="6236208" y="1600200"/>
            <a:ext cx="5413248" cy="2011680"/>
          </a:xfrm>
          <a:prstGeom prst="roundRect">
            <a:avLst>
              <a:gd name="adj" fmla="val 5455"/>
            </a:avLst>
          </a:prstGeom>
          <a:solidFill>
            <a:schemeClr val="bg2"/>
          </a:solidFill>
          <a:ln/>
        </p:spPr>
      </p:sp>
      <p:sp>
        <p:nvSpPr>
          <p:cNvPr id="9" name="Aquifer tests circle"/>
          <p:cNvSpPr/>
          <p:nvPr/>
        </p:nvSpPr>
        <p:spPr>
          <a:xfrm>
            <a:off x="6556248" y="1965960"/>
            <a:ext cx="822960" cy="822960"/>
          </a:xfrm>
          <a:prstGeom prst="ellipse">
            <a:avLst/>
          </a:prstGeom>
          <a:solidFill>
            <a:schemeClr val="accent1"/>
          </a:solidFill>
          <a:ln/>
        </p:spPr>
      </p:sp>
      <p:pic>
        <p:nvPicPr>
          <p:cNvPr id="10" name="Aquifer tests icon" descr="preencoded.png">    </p:cNvPr>
          <p:cNvPicPr>
            <a:picLocks noChangeAspect="1"/>
          </p:cNvPicPr>
          <p:nvPr/>
        </p:nvPicPr>
        <p:blipFill>
          <a:blip r:embed="rId2"/>
          <a:stretch>
            <a:fillRect/>
          </a:stretch>
        </p:blipFill>
        <p:spPr>
          <a:xfrm>
            <a:off x="6761988" y="2171700"/>
            <a:ext cx="411480" cy="411480"/>
          </a:xfrm>
          <a:prstGeom prst="rect">
            <a:avLst/>
          </a:prstGeom>
        </p:spPr>
      </p:pic>
      <p:sp>
        <p:nvSpPr>
          <p:cNvPr id="11" name="Text 7"/>
          <p:cNvSpPr txBox="1"/>
          <p:nvPr/>
        </p:nvSpPr>
        <p:spPr>
          <a:xfrm>
            <a:off x="7653528" y="1965960"/>
            <a:ext cx="367588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Aquifer tests</a:t>
            </a:r>
            <a:endParaRPr lang="en-US" sz="2200" dirty="0"/>
          </a:p>
        </p:txBody>
      </p:sp>
      <p:sp>
        <p:nvSpPr>
          <p:cNvPr id="12" name="Text 8"/>
          <p:cNvSpPr txBox="1"/>
          <p:nvPr/>
        </p:nvSpPr>
        <p:spPr>
          <a:xfrm>
            <a:off x="7653528" y="2496312"/>
            <a:ext cx="3675888" cy="822960"/>
          </a:xfrm>
          <a:prstGeom prst="rect">
            <a:avLst/>
          </a:prstGeom>
          <a:noFill/>
          <a:ln/>
        </p:spPr>
        <p:txBody>
          <a:bodyPr wrap="square" lIns="0" tIns="0" rIns="0" bIns="0" rtlCol="0" anchor="t"/>
          <a:lstStyle/>
          <a:p>
            <a:pPr indent="0" marL="0">
              <a:buNone/>
            </a:pPr>
            <a:r>
              <a:rPr lang="en-US" sz="1600" dirty="0">
                <a:solidFill>
                  <a:schemeClr val="tx2"/>
                </a:solidFill>
              </a:rPr>
              <a:t>Source, years covered, and number of sites</a:t>
            </a:r>
            <a:endParaRPr lang="en-US" sz="1600" dirty="0"/>
          </a:p>
        </p:txBody>
      </p:sp>
      <p:sp>
        <p:nvSpPr>
          <p:cNvPr id="13" name="Water quality card"/>
          <p:cNvSpPr/>
          <p:nvPr/>
        </p:nvSpPr>
        <p:spPr>
          <a:xfrm>
            <a:off x="548640" y="3886200"/>
            <a:ext cx="5413248" cy="2011680"/>
          </a:xfrm>
          <a:prstGeom prst="roundRect">
            <a:avLst>
              <a:gd name="adj" fmla="val 5455"/>
            </a:avLst>
          </a:prstGeom>
          <a:solidFill>
            <a:schemeClr val="bg2"/>
          </a:solidFill>
          <a:ln/>
        </p:spPr>
      </p:sp>
      <p:sp>
        <p:nvSpPr>
          <p:cNvPr id="14" name="Water quality circle"/>
          <p:cNvSpPr/>
          <p:nvPr/>
        </p:nvSpPr>
        <p:spPr>
          <a:xfrm>
            <a:off x="868680" y="4251960"/>
            <a:ext cx="822960" cy="822960"/>
          </a:xfrm>
          <a:prstGeom prst="ellipse">
            <a:avLst/>
          </a:prstGeom>
          <a:solidFill>
            <a:schemeClr val="accent1"/>
          </a:solidFill>
          <a:ln/>
        </p:spPr>
      </p:sp>
      <p:pic>
        <p:nvPicPr>
          <p:cNvPr id="15" name="Water quality icon" descr="preencoded.png">    </p:cNvPr>
          <p:cNvPicPr>
            <a:picLocks noChangeAspect="1"/>
          </p:cNvPicPr>
          <p:nvPr/>
        </p:nvPicPr>
        <p:blipFill>
          <a:blip r:embed="rId3"/>
          <a:stretch>
            <a:fillRect/>
          </a:stretch>
        </p:blipFill>
        <p:spPr>
          <a:xfrm>
            <a:off x="1074420" y="4457700"/>
            <a:ext cx="411480" cy="411480"/>
          </a:xfrm>
          <a:prstGeom prst="rect">
            <a:avLst/>
          </a:prstGeom>
        </p:spPr>
      </p:pic>
      <p:sp>
        <p:nvSpPr>
          <p:cNvPr id="16" name="Text 11"/>
          <p:cNvSpPr txBox="1"/>
          <p:nvPr/>
        </p:nvSpPr>
        <p:spPr>
          <a:xfrm>
            <a:off x="1965960" y="4251960"/>
            <a:ext cx="367588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Water quality</a:t>
            </a:r>
            <a:endParaRPr lang="en-US" sz="2200" dirty="0"/>
          </a:p>
        </p:txBody>
      </p:sp>
      <p:sp>
        <p:nvSpPr>
          <p:cNvPr id="17" name="Text 12"/>
          <p:cNvSpPr txBox="1"/>
          <p:nvPr/>
        </p:nvSpPr>
        <p:spPr>
          <a:xfrm>
            <a:off x="1965960" y="4782312"/>
            <a:ext cx="3675888" cy="822960"/>
          </a:xfrm>
          <a:prstGeom prst="rect">
            <a:avLst/>
          </a:prstGeom>
          <a:noFill/>
          <a:ln/>
        </p:spPr>
        <p:txBody>
          <a:bodyPr wrap="square" lIns="0" tIns="0" rIns="0" bIns="0" rtlCol="0" anchor="t"/>
          <a:lstStyle/>
          <a:p>
            <a:pPr indent="0" marL="0">
              <a:buNone/>
            </a:pPr>
            <a:r>
              <a:rPr lang="en-US" sz="1600" dirty="0">
                <a:solidFill>
                  <a:schemeClr val="tx2"/>
                </a:solidFill>
              </a:rPr>
              <a:t>Source, years covered, and number of sites</a:t>
            </a:r>
            <a:endParaRPr lang="en-US" sz="1600" dirty="0"/>
          </a:p>
        </p:txBody>
      </p:sp>
      <p:sp>
        <p:nvSpPr>
          <p:cNvPr id="18" name="Acequias card"/>
          <p:cNvSpPr/>
          <p:nvPr/>
        </p:nvSpPr>
        <p:spPr>
          <a:xfrm>
            <a:off x="6236208" y="3886200"/>
            <a:ext cx="5413248" cy="2011680"/>
          </a:xfrm>
          <a:prstGeom prst="roundRect">
            <a:avLst>
              <a:gd name="adj" fmla="val 5455"/>
            </a:avLst>
          </a:prstGeom>
          <a:solidFill>
            <a:schemeClr val="bg2"/>
          </a:solidFill>
          <a:ln/>
        </p:spPr>
      </p:sp>
      <p:sp>
        <p:nvSpPr>
          <p:cNvPr id="19" name="Acequias circle"/>
          <p:cNvSpPr/>
          <p:nvPr/>
        </p:nvSpPr>
        <p:spPr>
          <a:xfrm>
            <a:off x="6556248" y="4251960"/>
            <a:ext cx="822960" cy="822960"/>
          </a:xfrm>
          <a:prstGeom prst="ellipse">
            <a:avLst/>
          </a:prstGeom>
          <a:solidFill>
            <a:schemeClr val="accent1"/>
          </a:solidFill>
          <a:ln/>
        </p:spPr>
      </p:sp>
      <p:pic>
        <p:nvPicPr>
          <p:cNvPr id="20" name="Acequias icon" descr="preencoded.png">    </p:cNvPr>
          <p:cNvPicPr>
            <a:picLocks noChangeAspect="1"/>
          </p:cNvPicPr>
          <p:nvPr/>
        </p:nvPicPr>
        <p:blipFill>
          <a:blip r:embed="rId4"/>
          <a:stretch>
            <a:fillRect/>
          </a:stretch>
        </p:blipFill>
        <p:spPr>
          <a:xfrm>
            <a:off x="6761988" y="4457700"/>
            <a:ext cx="411480" cy="411480"/>
          </a:xfrm>
          <a:prstGeom prst="rect">
            <a:avLst/>
          </a:prstGeom>
        </p:spPr>
      </p:pic>
      <p:sp>
        <p:nvSpPr>
          <p:cNvPr id="21" name="Text 15"/>
          <p:cNvSpPr txBox="1"/>
          <p:nvPr/>
        </p:nvSpPr>
        <p:spPr>
          <a:xfrm>
            <a:off x="7653528" y="4251960"/>
            <a:ext cx="3675888"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Acequias</a:t>
            </a:r>
            <a:endParaRPr lang="en-US" sz="2200" dirty="0"/>
          </a:p>
        </p:txBody>
      </p:sp>
      <p:sp>
        <p:nvSpPr>
          <p:cNvPr id="22" name="Text 16"/>
          <p:cNvSpPr txBox="1"/>
          <p:nvPr/>
        </p:nvSpPr>
        <p:spPr>
          <a:xfrm>
            <a:off x="7653528" y="4782312"/>
            <a:ext cx="3675888" cy="822960"/>
          </a:xfrm>
          <a:prstGeom prst="rect">
            <a:avLst/>
          </a:prstGeom>
          <a:noFill/>
          <a:ln/>
        </p:spPr>
        <p:txBody>
          <a:bodyPr wrap="square" lIns="0" tIns="0" rIns="0" bIns="0" rtlCol="0" anchor="t"/>
          <a:lstStyle/>
          <a:p>
            <a:pPr indent="0" marL="0">
              <a:buNone/>
            </a:pPr>
            <a:r>
              <a:rPr lang="en-US" sz="1600" dirty="0">
                <a:solidFill>
                  <a:schemeClr val="tx2"/>
                </a:solidFill>
              </a:rPr>
              <a:t>Source, years covered, and number of sites</a:t>
            </a:r>
            <a:endParaRPr lang="en-US" sz="1600" dirty="0"/>
          </a:p>
        </p:txBody>
      </p:sp>
      <p:sp>
        <p:nvSpPr>
          <p:cNvPr id="25" name="Slide Number Placeholder 0"/>
          <p:cNvSpPr>
            <a:spLocks noGrp="1"/>
          </p:cNvSpPr>
          <p:nvPr>
            <p:ph type="sldNum" sz="quarter" idx="4294967295"/>
          </p:nvPr>
        </p:nvSpPr>
        <p:spPr>
          <a:xfrm>
            <a:off x="11091672" y="6318504"/>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accent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Methods</a:t>
            </a:r>
            <a:endParaRPr lang="en-US" sz="3600" dirty="0"/>
          </a:p>
        </p:txBody>
      </p:sp>
      <p:sp>
        <p:nvSpPr>
          <p:cNvPr id="3" name="Collect circle"/>
          <p:cNvSpPr/>
          <p:nvPr/>
        </p:nvSpPr>
        <p:spPr>
          <a:xfrm>
            <a:off x="548640" y="2057400"/>
            <a:ext cx="1097280" cy="1097280"/>
          </a:xfrm>
          <a:prstGeom prst="ellipse">
            <a:avLst/>
          </a:prstGeom>
          <a:solidFill>
            <a:schemeClr val="accent1"/>
          </a:solidFill>
          <a:ln/>
        </p:spPr>
      </p:sp>
      <p:pic>
        <p:nvPicPr>
          <p:cNvPr id="4" name="Collect icon" descr="preencoded.png">    </p:cNvPr>
          <p:cNvPicPr>
            <a:picLocks noChangeAspect="1"/>
          </p:cNvPicPr>
          <p:nvPr/>
        </p:nvPicPr>
        <p:blipFill>
          <a:blip r:embed="rId1"/>
          <a:stretch>
            <a:fillRect/>
          </a:stretch>
        </p:blipFill>
        <p:spPr>
          <a:xfrm>
            <a:off x="822960" y="2331720"/>
            <a:ext cx="548640" cy="548640"/>
          </a:xfrm>
          <a:prstGeom prst="rect">
            <a:avLst/>
          </a:prstGeom>
        </p:spPr>
      </p:pic>
      <p:pic>
        <p:nvPicPr>
          <p:cNvPr id="5" name="Arrow" descr="preencoded.png">    </p:cNvPr>
          <p:cNvPicPr>
            <a:picLocks noChangeAspect="1"/>
          </p:cNvPicPr>
          <p:nvPr/>
        </p:nvPicPr>
        <p:blipFill>
          <a:blip r:embed="rId2"/>
          <a:stretch>
            <a:fillRect/>
          </a:stretch>
        </p:blipFill>
        <p:spPr>
          <a:xfrm>
            <a:off x="2386584" y="2441448"/>
            <a:ext cx="329184" cy="329184"/>
          </a:xfrm>
          <a:prstGeom prst="rect">
            <a:avLst/>
          </a:prstGeom>
        </p:spPr>
      </p:pic>
      <p:sp>
        <p:nvSpPr>
          <p:cNvPr id="6" name="Text 2"/>
          <p:cNvSpPr txBox="1"/>
          <p:nvPr/>
        </p:nvSpPr>
        <p:spPr>
          <a:xfrm>
            <a:off x="548640" y="3429000"/>
            <a:ext cx="237744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Collect</a:t>
            </a:r>
            <a:endParaRPr lang="en-US" sz="2200" dirty="0"/>
          </a:p>
        </p:txBody>
      </p:sp>
      <p:sp>
        <p:nvSpPr>
          <p:cNvPr id="7" name="Text 3"/>
          <p:cNvSpPr txBox="1"/>
          <p:nvPr/>
        </p:nvSpPr>
        <p:spPr>
          <a:xfrm>
            <a:off x="548640" y="3886200"/>
            <a:ext cx="2377440" cy="320040"/>
          </a:xfrm>
          <a:prstGeom prst="rect">
            <a:avLst/>
          </a:prstGeom>
          <a:noFill/>
          <a:ln/>
        </p:spPr>
        <p:txBody>
          <a:bodyPr wrap="square" lIns="0" tIns="0" rIns="0" bIns="0" rtlCol="0" anchor="ctr"/>
          <a:lstStyle/>
          <a:p>
            <a:pPr indent="0" marL="0">
              <a:buNone/>
            </a:pPr>
            <a:r>
              <a:rPr lang="en-US" sz="1400" b="1" dirty="0">
                <a:solidFill>
                  <a:schemeClr val="tx2"/>
                </a:solidFill>
              </a:rPr>
              <a:t>Dylan Gonzales</a:t>
            </a:r>
            <a:endParaRPr lang="en-US" sz="1400" dirty="0"/>
          </a:p>
        </p:txBody>
      </p:sp>
      <p:sp>
        <p:nvSpPr>
          <p:cNvPr id="8" name="Text 4"/>
          <p:cNvSpPr txBox="1"/>
          <p:nvPr/>
        </p:nvSpPr>
        <p:spPr>
          <a:xfrm>
            <a:off x="548640" y="4343400"/>
            <a:ext cx="2377440" cy="1463040"/>
          </a:xfrm>
          <a:prstGeom prst="rect">
            <a:avLst/>
          </a:prstGeom>
          <a:noFill/>
          <a:ln/>
        </p:spPr>
        <p:txBody>
          <a:bodyPr wrap="square" lIns="0" tIns="0" rIns="0" bIns="0" rtlCol="0" anchor="t"/>
          <a:lstStyle/>
          <a:p>
            <a:pPr indent="0" marL="0">
              <a:buNone/>
            </a:pPr>
            <a:r>
              <a:rPr lang="en-US" sz="1600" dirty="0">
                <a:solidFill>
                  <a:schemeClr val="tx2"/>
                </a:solidFill>
              </a:rPr>
              <a:t>One or two lines on what this step did</a:t>
            </a:r>
            <a:endParaRPr lang="en-US" sz="1600" dirty="0"/>
          </a:p>
        </p:txBody>
      </p:sp>
      <p:sp>
        <p:nvSpPr>
          <p:cNvPr id="9" name="Clean circle"/>
          <p:cNvSpPr/>
          <p:nvPr/>
        </p:nvSpPr>
        <p:spPr>
          <a:xfrm>
            <a:off x="3456432" y="2057400"/>
            <a:ext cx="1097280" cy="1097280"/>
          </a:xfrm>
          <a:prstGeom prst="ellipse">
            <a:avLst/>
          </a:prstGeom>
          <a:solidFill>
            <a:schemeClr val="accent1"/>
          </a:solidFill>
          <a:ln/>
        </p:spPr>
      </p:sp>
      <p:pic>
        <p:nvPicPr>
          <p:cNvPr id="10" name="Clean icon" descr="preencoded.png">    </p:cNvPr>
          <p:cNvPicPr>
            <a:picLocks noChangeAspect="1"/>
          </p:cNvPicPr>
          <p:nvPr/>
        </p:nvPicPr>
        <p:blipFill>
          <a:blip r:embed="rId3"/>
          <a:stretch>
            <a:fillRect/>
          </a:stretch>
        </p:blipFill>
        <p:spPr>
          <a:xfrm>
            <a:off x="3730752" y="2331720"/>
            <a:ext cx="548640" cy="548640"/>
          </a:xfrm>
          <a:prstGeom prst="rect">
            <a:avLst/>
          </a:prstGeom>
        </p:spPr>
      </p:pic>
      <p:pic>
        <p:nvPicPr>
          <p:cNvPr id="11" name="Arrow" descr="preencoded.png">    </p:cNvPr>
          <p:cNvPicPr>
            <a:picLocks noChangeAspect="1"/>
          </p:cNvPicPr>
          <p:nvPr/>
        </p:nvPicPr>
        <p:blipFill>
          <a:blip r:embed="rId4"/>
          <a:stretch>
            <a:fillRect/>
          </a:stretch>
        </p:blipFill>
        <p:spPr>
          <a:xfrm>
            <a:off x="5294376" y="2441448"/>
            <a:ext cx="329184" cy="329184"/>
          </a:xfrm>
          <a:prstGeom prst="rect">
            <a:avLst/>
          </a:prstGeom>
        </p:spPr>
      </p:pic>
      <p:sp>
        <p:nvSpPr>
          <p:cNvPr id="12" name="Text 6"/>
          <p:cNvSpPr txBox="1"/>
          <p:nvPr/>
        </p:nvSpPr>
        <p:spPr>
          <a:xfrm>
            <a:off x="3456432" y="3429000"/>
            <a:ext cx="237744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Clean</a:t>
            </a:r>
            <a:endParaRPr lang="en-US" sz="2200" dirty="0"/>
          </a:p>
        </p:txBody>
      </p:sp>
      <p:sp>
        <p:nvSpPr>
          <p:cNvPr id="13" name="Text 7"/>
          <p:cNvSpPr txBox="1"/>
          <p:nvPr/>
        </p:nvSpPr>
        <p:spPr>
          <a:xfrm>
            <a:off x="3456432" y="3886200"/>
            <a:ext cx="2377440" cy="320040"/>
          </a:xfrm>
          <a:prstGeom prst="rect">
            <a:avLst/>
          </a:prstGeom>
          <a:noFill/>
          <a:ln/>
        </p:spPr>
        <p:txBody>
          <a:bodyPr wrap="square" lIns="0" tIns="0" rIns="0" bIns="0" rtlCol="0" anchor="ctr"/>
          <a:lstStyle/>
          <a:p>
            <a:pPr indent="0" marL="0">
              <a:buNone/>
            </a:pPr>
            <a:r>
              <a:rPr lang="en-US" sz="1400" b="1" dirty="0">
                <a:solidFill>
                  <a:schemeClr val="tx2"/>
                </a:solidFill>
              </a:rPr>
              <a:t>James Wanueka</a:t>
            </a:r>
            <a:endParaRPr lang="en-US" sz="1400" dirty="0"/>
          </a:p>
        </p:txBody>
      </p:sp>
      <p:sp>
        <p:nvSpPr>
          <p:cNvPr id="14" name="Text 8"/>
          <p:cNvSpPr txBox="1"/>
          <p:nvPr/>
        </p:nvSpPr>
        <p:spPr>
          <a:xfrm>
            <a:off x="3456432" y="4343400"/>
            <a:ext cx="2377440" cy="1463040"/>
          </a:xfrm>
          <a:prstGeom prst="rect">
            <a:avLst/>
          </a:prstGeom>
          <a:noFill/>
          <a:ln/>
        </p:spPr>
        <p:txBody>
          <a:bodyPr wrap="square" lIns="0" tIns="0" rIns="0" bIns="0" rtlCol="0" anchor="t"/>
          <a:lstStyle/>
          <a:p>
            <a:pPr indent="0" marL="0">
              <a:buNone/>
            </a:pPr>
            <a:r>
              <a:rPr lang="en-US" sz="1600" dirty="0">
                <a:solidFill>
                  <a:schemeClr val="tx2"/>
                </a:solidFill>
              </a:rPr>
              <a:t>One or two lines on what this step did</a:t>
            </a:r>
            <a:endParaRPr lang="en-US" sz="1600" dirty="0"/>
          </a:p>
        </p:txBody>
      </p:sp>
      <p:sp>
        <p:nvSpPr>
          <p:cNvPr id="15" name="Analyze circle"/>
          <p:cNvSpPr/>
          <p:nvPr/>
        </p:nvSpPr>
        <p:spPr>
          <a:xfrm>
            <a:off x="6364224" y="2057400"/>
            <a:ext cx="1097280" cy="1097280"/>
          </a:xfrm>
          <a:prstGeom prst="ellipse">
            <a:avLst/>
          </a:prstGeom>
          <a:solidFill>
            <a:schemeClr val="accent1"/>
          </a:solidFill>
          <a:ln/>
        </p:spPr>
      </p:sp>
      <p:pic>
        <p:nvPicPr>
          <p:cNvPr id="16" name="Analyze icon" descr="preencoded.png">    </p:cNvPr>
          <p:cNvPicPr>
            <a:picLocks noChangeAspect="1"/>
          </p:cNvPicPr>
          <p:nvPr/>
        </p:nvPicPr>
        <p:blipFill>
          <a:blip r:embed="rId5"/>
          <a:stretch>
            <a:fillRect/>
          </a:stretch>
        </p:blipFill>
        <p:spPr>
          <a:xfrm>
            <a:off x="6638544" y="2331720"/>
            <a:ext cx="548640" cy="548640"/>
          </a:xfrm>
          <a:prstGeom prst="rect">
            <a:avLst/>
          </a:prstGeom>
        </p:spPr>
      </p:pic>
      <p:pic>
        <p:nvPicPr>
          <p:cNvPr id="17" name="Arrow" descr="preencoded.png">    </p:cNvPr>
          <p:cNvPicPr>
            <a:picLocks noChangeAspect="1"/>
          </p:cNvPicPr>
          <p:nvPr/>
        </p:nvPicPr>
        <p:blipFill>
          <a:blip r:embed="rId6"/>
          <a:stretch>
            <a:fillRect/>
          </a:stretch>
        </p:blipFill>
        <p:spPr>
          <a:xfrm>
            <a:off x="8202168" y="2441448"/>
            <a:ext cx="329184" cy="329184"/>
          </a:xfrm>
          <a:prstGeom prst="rect">
            <a:avLst/>
          </a:prstGeom>
        </p:spPr>
      </p:pic>
      <p:sp>
        <p:nvSpPr>
          <p:cNvPr id="18" name="Text 10"/>
          <p:cNvSpPr txBox="1"/>
          <p:nvPr/>
        </p:nvSpPr>
        <p:spPr>
          <a:xfrm>
            <a:off x="6364224" y="3429000"/>
            <a:ext cx="237744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Analyze</a:t>
            </a:r>
            <a:endParaRPr lang="en-US" sz="2200" dirty="0"/>
          </a:p>
        </p:txBody>
      </p:sp>
      <p:sp>
        <p:nvSpPr>
          <p:cNvPr id="19" name="Text 11"/>
          <p:cNvSpPr txBox="1"/>
          <p:nvPr/>
        </p:nvSpPr>
        <p:spPr>
          <a:xfrm>
            <a:off x="6364224" y="3886200"/>
            <a:ext cx="2377440" cy="320040"/>
          </a:xfrm>
          <a:prstGeom prst="rect">
            <a:avLst/>
          </a:prstGeom>
          <a:noFill/>
          <a:ln/>
        </p:spPr>
        <p:txBody>
          <a:bodyPr wrap="square" lIns="0" tIns="0" rIns="0" bIns="0" rtlCol="0" anchor="ctr"/>
          <a:lstStyle/>
          <a:p>
            <a:pPr indent="0" marL="0">
              <a:buNone/>
            </a:pPr>
            <a:r>
              <a:rPr lang="en-US" sz="1400" b="1" dirty="0">
                <a:solidFill>
                  <a:schemeClr val="tx2"/>
                </a:solidFill>
              </a:rPr>
              <a:t>Micah Watkins</a:t>
            </a:r>
            <a:endParaRPr lang="en-US" sz="1400" dirty="0"/>
          </a:p>
        </p:txBody>
      </p:sp>
      <p:sp>
        <p:nvSpPr>
          <p:cNvPr id="20" name="Text 12"/>
          <p:cNvSpPr txBox="1"/>
          <p:nvPr/>
        </p:nvSpPr>
        <p:spPr>
          <a:xfrm>
            <a:off x="6364224" y="4343400"/>
            <a:ext cx="2377440" cy="1463040"/>
          </a:xfrm>
          <a:prstGeom prst="rect">
            <a:avLst/>
          </a:prstGeom>
          <a:noFill/>
          <a:ln/>
        </p:spPr>
        <p:txBody>
          <a:bodyPr wrap="square" lIns="0" tIns="0" rIns="0" bIns="0" rtlCol="0" anchor="t"/>
          <a:lstStyle/>
          <a:p>
            <a:pPr indent="0" marL="0">
              <a:buNone/>
            </a:pPr>
            <a:r>
              <a:rPr lang="en-US" sz="1600" dirty="0">
                <a:solidFill>
                  <a:schemeClr val="tx2"/>
                </a:solidFill>
              </a:rPr>
              <a:t>One or two lines on what this step did</a:t>
            </a:r>
            <a:endParaRPr lang="en-US" sz="1600" dirty="0"/>
          </a:p>
        </p:txBody>
      </p:sp>
      <p:sp>
        <p:nvSpPr>
          <p:cNvPr id="21" name="Present circle"/>
          <p:cNvSpPr/>
          <p:nvPr/>
        </p:nvSpPr>
        <p:spPr>
          <a:xfrm>
            <a:off x="9272016" y="2057400"/>
            <a:ext cx="1097280" cy="1097280"/>
          </a:xfrm>
          <a:prstGeom prst="ellipse">
            <a:avLst/>
          </a:prstGeom>
          <a:solidFill>
            <a:schemeClr val="accent1"/>
          </a:solidFill>
          <a:ln/>
        </p:spPr>
      </p:sp>
      <p:pic>
        <p:nvPicPr>
          <p:cNvPr id="22" name="Present icon" descr="preencoded.png">    </p:cNvPr>
          <p:cNvPicPr>
            <a:picLocks noChangeAspect="1"/>
          </p:cNvPicPr>
          <p:nvPr/>
        </p:nvPicPr>
        <p:blipFill>
          <a:blip r:embed="rId7"/>
          <a:stretch>
            <a:fillRect/>
          </a:stretch>
        </p:blipFill>
        <p:spPr>
          <a:xfrm>
            <a:off x="9546336" y="2331720"/>
            <a:ext cx="548640" cy="548640"/>
          </a:xfrm>
          <a:prstGeom prst="rect">
            <a:avLst/>
          </a:prstGeom>
        </p:spPr>
      </p:pic>
      <p:sp>
        <p:nvSpPr>
          <p:cNvPr id="23" name="Text 14"/>
          <p:cNvSpPr txBox="1"/>
          <p:nvPr/>
        </p:nvSpPr>
        <p:spPr>
          <a:xfrm>
            <a:off x="9272016" y="3429000"/>
            <a:ext cx="2377440" cy="457200"/>
          </a:xfrm>
          <a:prstGeom prst="rect">
            <a:avLst/>
          </a:prstGeom>
          <a:noFill/>
          <a:ln/>
        </p:spPr>
        <p:txBody>
          <a:bodyPr wrap="square" lIns="0" tIns="0" rIns="0" bIns="0" rtlCol="0" anchor="ctr"/>
          <a:lstStyle/>
          <a:p>
            <a:pPr indent="0" marL="0">
              <a:buNone/>
            </a:pPr>
            <a:r>
              <a:rPr lang="en-US" sz="2200" b="1" dirty="0">
                <a:solidFill>
                  <a:schemeClr val="tx1"/>
                </a:solidFill>
                <a:latin typeface="Cambria" pitchFamily="34" charset="0"/>
                <a:ea typeface="Cambria" pitchFamily="34" charset="-122"/>
                <a:cs typeface="Cambria" pitchFamily="34" charset="-120"/>
              </a:rPr>
              <a:t>Present</a:t>
            </a:r>
            <a:endParaRPr lang="en-US" sz="2200" dirty="0"/>
          </a:p>
        </p:txBody>
      </p:sp>
      <p:sp>
        <p:nvSpPr>
          <p:cNvPr id="24" name="Text 15"/>
          <p:cNvSpPr txBox="1"/>
          <p:nvPr/>
        </p:nvSpPr>
        <p:spPr>
          <a:xfrm>
            <a:off x="9272016" y="3886200"/>
            <a:ext cx="2377440" cy="320040"/>
          </a:xfrm>
          <a:prstGeom prst="rect">
            <a:avLst/>
          </a:prstGeom>
          <a:noFill/>
          <a:ln/>
        </p:spPr>
        <p:txBody>
          <a:bodyPr wrap="square" lIns="0" tIns="0" rIns="0" bIns="0" rtlCol="0" anchor="ctr"/>
          <a:lstStyle/>
          <a:p>
            <a:pPr indent="0" marL="0">
              <a:buNone/>
            </a:pPr>
            <a:r>
              <a:rPr lang="en-US" sz="1400" b="1" dirty="0">
                <a:solidFill>
                  <a:schemeClr val="tx2"/>
                </a:solidFill>
              </a:rPr>
              <a:t>Meckrem Yousef</a:t>
            </a:r>
            <a:endParaRPr lang="en-US" sz="1400" dirty="0"/>
          </a:p>
        </p:txBody>
      </p:sp>
      <p:sp>
        <p:nvSpPr>
          <p:cNvPr id="25" name="Text 16"/>
          <p:cNvSpPr txBox="1"/>
          <p:nvPr/>
        </p:nvSpPr>
        <p:spPr>
          <a:xfrm>
            <a:off x="9272016" y="4343400"/>
            <a:ext cx="2377440" cy="1463040"/>
          </a:xfrm>
          <a:prstGeom prst="rect">
            <a:avLst/>
          </a:prstGeom>
          <a:noFill/>
          <a:ln/>
        </p:spPr>
        <p:txBody>
          <a:bodyPr wrap="square" lIns="0" tIns="0" rIns="0" bIns="0" rtlCol="0" anchor="t"/>
          <a:lstStyle/>
          <a:p>
            <a:pPr indent="0" marL="0">
              <a:buNone/>
            </a:pPr>
            <a:r>
              <a:rPr lang="en-US" sz="1600" dirty="0">
                <a:solidFill>
                  <a:schemeClr val="tx2"/>
                </a:solidFill>
              </a:rPr>
              <a:t>One or two lines on what this step did</a:t>
            </a:r>
            <a:endParaRPr lang="en-US" sz="1600" dirty="0"/>
          </a:p>
        </p:txBody>
      </p:sp>
      <p:sp>
        <p:nvSpPr>
          <p:cNvPr id="25" name="Slide Number Placeholder 0"/>
          <p:cNvSpPr>
            <a:spLocks noGrp="1"/>
          </p:cNvSpPr>
          <p:nvPr>
            <p:ph type="sldNum" sz="quarter" idx="4294967295"/>
          </p:nvPr>
        </p:nvSpPr>
        <p:spPr>
          <a:xfrm>
            <a:off x="11091672" y="6318504"/>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accent6"/>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Results</a:t>
            </a:r>
            <a:endParaRPr lang="en-US" sz="3600" dirty="0"/>
          </a:p>
        </p:txBody>
      </p:sp>
      <p:sp>
        <p:nvSpPr>
          <p:cNvPr id="3" name="Drop zone (delete after adding your image)"/>
          <p:cNvSpPr/>
          <p:nvPr/>
        </p:nvSpPr>
        <p:spPr>
          <a:xfrm>
            <a:off x="548640" y="1508760"/>
            <a:ext cx="7315200" cy="4434840"/>
          </a:xfrm>
          <a:prstGeom prst="roundRect">
            <a:avLst>
              <a:gd name="adj" fmla="val 2474"/>
            </a:avLst>
          </a:prstGeom>
          <a:solidFill>
            <a:schemeClr val="bg2"/>
          </a:solidFill>
          <a:ln w="19050">
            <a:solidFill>
              <a:schemeClr val="accent3"/>
            </a:solidFill>
            <a:prstDash val="dash"/>
          </a:ln>
        </p:spPr>
      </p:sp>
      <p:sp>
        <p:nvSpPr>
          <p:cNvPr id="4" name="Drop zone circle"/>
          <p:cNvSpPr/>
          <p:nvPr/>
        </p:nvSpPr>
        <p:spPr>
          <a:xfrm>
            <a:off x="3794760" y="2857500"/>
            <a:ext cx="822960" cy="822960"/>
          </a:xfrm>
          <a:prstGeom prst="ellipse">
            <a:avLst/>
          </a:prstGeom>
          <a:solidFill>
            <a:schemeClr val="bg1"/>
          </a:solidFill>
          <a:ln/>
        </p:spPr>
      </p:sp>
      <p:pic>
        <p:nvPicPr>
          <p:cNvPr id="5" name="Drop zone icon" descr="preencoded.png">    </p:cNvPr>
          <p:cNvPicPr>
            <a:picLocks noChangeAspect="1"/>
          </p:cNvPicPr>
          <p:nvPr/>
        </p:nvPicPr>
        <p:blipFill>
          <a:blip r:embed="rId1"/>
          <a:stretch>
            <a:fillRect/>
          </a:stretch>
        </p:blipFill>
        <p:spPr>
          <a:xfrm>
            <a:off x="4000500" y="3063240"/>
            <a:ext cx="411480" cy="411480"/>
          </a:xfrm>
          <a:prstGeom prst="rect">
            <a:avLst/>
          </a:prstGeom>
        </p:spPr>
      </p:pic>
      <p:sp>
        <p:nvSpPr>
          <p:cNvPr id="6" name="Drop zone label"/>
          <p:cNvSpPr txBox="1"/>
          <p:nvPr/>
        </p:nvSpPr>
        <p:spPr>
          <a:xfrm>
            <a:off x="914400" y="3817620"/>
            <a:ext cx="6583680" cy="868680"/>
          </a:xfrm>
          <a:prstGeom prst="rect">
            <a:avLst/>
          </a:prstGeom>
          <a:noFill/>
          <a:ln/>
        </p:spPr>
        <p:txBody>
          <a:bodyPr wrap="square" lIns="0" tIns="0" rIns="0" bIns="0" rtlCol="0" anchor="t"/>
          <a:lstStyle/>
          <a:p>
            <a:pPr algn="ctr" indent="0" marL="0">
              <a:spcAft>
                <a:spcPts val="400"/>
              </a:spcAft>
              <a:buNone/>
            </a:pPr>
            <a:r>
              <a:rPr lang="en-US" sz="1800" b="1" dirty="0">
                <a:solidFill>
                  <a:schemeClr val="tx1"/>
                </a:solidFill>
              </a:rPr>
              <a:t>Chart, map, or app screenshot</a:t>
            </a:r>
            <a:endParaRPr lang="en-US" sz="1800" dirty="0"/>
          </a:p>
          <a:p>
            <a:pPr algn="ctr" indent="0" marL="0">
              <a:spcAft>
                <a:spcPts val="400"/>
              </a:spcAft>
              <a:buNone/>
            </a:pPr>
            <a:r>
              <a:rPr lang="en-US" sz="1400" dirty="0">
                <a:solidFill>
                  <a:schemeClr val="accent6"/>
                </a:solidFill>
              </a:rPr>
              <a:t>Copy this slide for each result</a:t>
            </a:r>
            <a:endParaRPr lang="en-US" sz="1800" dirty="0"/>
          </a:p>
        </p:txBody>
      </p:sp>
      <p:sp>
        <p:nvSpPr>
          <p:cNvPr id="7" name="Key number"/>
          <p:cNvSpPr txBox="1"/>
          <p:nvPr/>
        </p:nvSpPr>
        <p:spPr>
          <a:xfrm>
            <a:off x="8229600" y="1508760"/>
            <a:ext cx="3410712" cy="914400"/>
          </a:xfrm>
          <a:prstGeom prst="rect">
            <a:avLst/>
          </a:prstGeom>
          <a:noFill/>
          <a:ln/>
        </p:spPr>
        <p:txBody>
          <a:bodyPr wrap="square" lIns="0" tIns="0" rIns="0" bIns="0" rtlCol="0" anchor="ctr"/>
          <a:lstStyle/>
          <a:p>
            <a:pPr indent="0" marL="0">
              <a:buNone/>
            </a:pPr>
            <a:r>
              <a:rPr lang="en-US" sz="5400" b="1" dirty="0">
                <a:solidFill>
                  <a:schemeClr val="accent1"/>
                </a:solidFill>
                <a:latin typeface="Cambria" pitchFamily="34" charset="0"/>
                <a:ea typeface="Cambria" pitchFamily="34" charset="-122"/>
                <a:cs typeface="Cambria" pitchFamily="34" charset="-120"/>
              </a:rPr>
              <a:t>— ft</a:t>
            </a:r>
            <a:endParaRPr lang="en-US" sz="5400" dirty="0"/>
          </a:p>
        </p:txBody>
      </p:sp>
      <p:sp>
        <p:nvSpPr>
          <p:cNvPr id="8" name="Text 5"/>
          <p:cNvSpPr txBox="1"/>
          <p:nvPr/>
        </p:nvSpPr>
        <p:spPr>
          <a:xfrm>
            <a:off x="8229600" y="2468880"/>
            <a:ext cx="3410712" cy="640080"/>
          </a:xfrm>
          <a:prstGeom prst="rect">
            <a:avLst/>
          </a:prstGeom>
          <a:noFill/>
          <a:ln/>
        </p:spPr>
        <p:txBody>
          <a:bodyPr wrap="square" lIns="0" tIns="0" rIns="0" bIns="0" rtlCol="0" anchor="t"/>
          <a:lstStyle/>
          <a:p>
            <a:pPr indent="0" marL="0">
              <a:buNone/>
            </a:pPr>
            <a:r>
              <a:rPr lang="en-US" sz="1400" dirty="0">
                <a:solidFill>
                  <a:schemeClr val="accent6"/>
                </a:solidFill>
              </a:rPr>
              <a:t>Key number and what it measures</a:t>
            </a:r>
            <a:endParaRPr lang="en-US" sz="1400" dirty="0"/>
          </a:p>
        </p:txBody>
      </p:sp>
      <p:sp>
        <p:nvSpPr>
          <p:cNvPr id="9" name="Text 6"/>
          <p:cNvSpPr txBox="1"/>
          <p:nvPr/>
        </p:nvSpPr>
        <p:spPr>
          <a:xfrm>
            <a:off x="8229600" y="3337560"/>
            <a:ext cx="3410712" cy="2606040"/>
          </a:xfrm>
          <a:prstGeom prst="rect">
            <a:avLst/>
          </a:prstGeom>
          <a:noFill/>
          <a:ln/>
        </p:spPr>
        <p:txBody>
          <a:bodyPr wrap="square" lIns="0" tIns="0" rIns="0" bIns="0" rtlCol="0" anchor="t"/>
          <a:lstStyle/>
          <a:p>
            <a:pPr indent="0" marL="0">
              <a:spcAft>
                <a:spcPts val="800"/>
              </a:spcAft>
              <a:buNone/>
            </a:pPr>
            <a:r>
              <a:rPr lang="en-US" sz="2000" b="1" dirty="0">
                <a:solidFill>
                  <a:schemeClr val="tx1"/>
                </a:solidFill>
              </a:rPr>
              <a:t>What this shows</a:t>
            </a:r>
            <a:endParaRPr lang="en-US" sz="2000" dirty="0"/>
          </a:p>
          <a:p>
            <a:pPr indent="0" marL="0">
              <a:spcAft>
                <a:spcPts val="800"/>
              </a:spcAft>
              <a:buNone/>
            </a:pPr>
            <a:r>
              <a:rPr lang="en-US" sz="1600" dirty="0">
                <a:solidFill>
                  <a:schemeClr val="tx2"/>
                </a:solidFill>
              </a:rPr>
              <a:t>Two or three sentences on the main pattern in the chart.</a:t>
            </a:r>
            <a:endParaRPr lang="en-US" sz="2000" dirty="0"/>
          </a:p>
        </p:txBody>
      </p:sp>
      <p:sp>
        <p:nvSpPr>
          <p:cNvPr id="25" name="Slide Number Placeholder 0"/>
          <p:cNvSpPr>
            <a:spLocks noGrp="1"/>
          </p:cNvSpPr>
          <p:nvPr>
            <p:ph type="sldNum" sz="quarter" idx="4294967295"/>
          </p:nvPr>
        </p:nvSpPr>
        <p:spPr>
          <a:xfrm>
            <a:off x="11091672" y="6318504"/>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accent6"/>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Findings</a:t>
            </a:r>
            <a:endParaRPr lang="en-US" sz="3600" dirty="0"/>
          </a:p>
        </p:txBody>
      </p:sp>
      <p:sp>
        <p:nvSpPr>
          <p:cNvPr id="3" name="What the data show card"/>
          <p:cNvSpPr/>
          <p:nvPr/>
        </p:nvSpPr>
        <p:spPr>
          <a:xfrm>
            <a:off x="548640" y="1600200"/>
            <a:ext cx="3529584" cy="4206240"/>
          </a:xfrm>
          <a:prstGeom prst="roundRect">
            <a:avLst>
              <a:gd name="adj" fmla="val 3109"/>
            </a:avLst>
          </a:prstGeom>
          <a:solidFill>
            <a:schemeClr val="bg2"/>
          </a:solidFill>
          <a:ln/>
        </p:spPr>
      </p:sp>
      <p:sp>
        <p:nvSpPr>
          <p:cNvPr id="4" name="What the data show circle"/>
          <p:cNvSpPr/>
          <p:nvPr/>
        </p:nvSpPr>
        <p:spPr>
          <a:xfrm>
            <a:off x="868680" y="1965960"/>
            <a:ext cx="731520" cy="731520"/>
          </a:xfrm>
          <a:prstGeom prst="ellipse">
            <a:avLst/>
          </a:prstGeom>
          <a:solidFill>
            <a:schemeClr val="accent1"/>
          </a:solidFill>
          <a:ln/>
        </p:spPr>
      </p:sp>
      <p:pic>
        <p:nvPicPr>
          <p:cNvPr id="5" name="What the data show icon" descr="preencoded.png">    </p:cNvPr>
          <p:cNvPicPr>
            <a:picLocks noChangeAspect="1"/>
          </p:cNvPicPr>
          <p:nvPr/>
        </p:nvPicPr>
        <p:blipFill>
          <a:blip r:embed="rId1"/>
          <a:stretch>
            <a:fillRect/>
          </a:stretch>
        </p:blipFill>
        <p:spPr>
          <a:xfrm>
            <a:off x="1051560" y="2148840"/>
            <a:ext cx="365760" cy="365760"/>
          </a:xfrm>
          <a:prstGeom prst="rect">
            <a:avLst/>
          </a:prstGeom>
        </p:spPr>
      </p:pic>
      <p:sp>
        <p:nvSpPr>
          <p:cNvPr id="6" name="Text 3"/>
          <p:cNvSpPr txBox="1"/>
          <p:nvPr/>
        </p:nvSpPr>
        <p:spPr>
          <a:xfrm>
            <a:off x="868680" y="2926080"/>
            <a:ext cx="2889504" cy="73152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What the data show</a:t>
            </a:r>
            <a:endParaRPr lang="en-US" sz="2200" dirty="0"/>
          </a:p>
        </p:txBody>
      </p:sp>
      <p:sp>
        <p:nvSpPr>
          <p:cNvPr id="7" name="Text 4"/>
          <p:cNvSpPr txBox="1"/>
          <p:nvPr/>
        </p:nvSpPr>
        <p:spPr>
          <a:xfrm>
            <a:off x="868680" y="3703320"/>
            <a:ext cx="2889504"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Measured results, with numbers</a:t>
            </a:r>
            <a:endParaRPr lang="en-US" sz="1600" dirty="0"/>
          </a:p>
        </p:txBody>
      </p:sp>
      <p:sp>
        <p:nvSpPr>
          <p:cNvPr id="8" name="What they suggest card"/>
          <p:cNvSpPr/>
          <p:nvPr/>
        </p:nvSpPr>
        <p:spPr>
          <a:xfrm>
            <a:off x="4334256" y="1600200"/>
            <a:ext cx="3529584" cy="4206240"/>
          </a:xfrm>
          <a:prstGeom prst="roundRect">
            <a:avLst>
              <a:gd name="adj" fmla="val 3109"/>
            </a:avLst>
          </a:prstGeom>
          <a:solidFill>
            <a:schemeClr val="bg2"/>
          </a:solidFill>
          <a:ln/>
        </p:spPr>
      </p:sp>
      <p:sp>
        <p:nvSpPr>
          <p:cNvPr id="9" name="What they suggest circle"/>
          <p:cNvSpPr/>
          <p:nvPr/>
        </p:nvSpPr>
        <p:spPr>
          <a:xfrm>
            <a:off x="4654296" y="1965960"/>
            <a:ext cx="731520" cy="731520"/>
          </a:xfrm>
          <a:prstGeom prst="ellipse">
            <a:avLst/>
          </a:prstGeom>
          <a:solidFill>
            <a:schemeClr val="accent5"/>
          </a:solidFill>
          <a:ln/>
        </p:spPr>
      </p:sp>
      <p:pic>
        <p:nvPicPr>
          <p:cNvPr id="10" name="What they suggest icon" descr="preencoded.png">    </p:cNvPr>
          <p:cNvPicPr>
            <a:picLocks noChangeAspect="1"/>
          </p:cNvPicPr>
          <p:nvPr/>
        </p:nvPicPr>
        <p:blipFill>
          <a:blip r:embed="rId2"/>
          <a:stretch>
            <a:fillRect/>
          </a:stretch>
        </p:blipFill>
        <p:spPr>
          <a:xfrm>
            <a:off x="4837176" y="2148840"/>
            <a:ext cx="365760" cy="365760"/>
          </a:xfrm>
          <a:prstGeom prst="rect">
            <a:avLst/>
          </a:prstGeom>
        </p:spPr>
      </p:pic>
      <p:sp>
        <p:nvSpPr>
          <p:cNvPr id="11" name="Text 7"/>
          <p:cNvSpPr txBox="1"/>
          <p:nvPr/>
        </p:nvSpPr>
        <p:spPr>
          <a:xfrm>
            <a:off x="4654296" y="2926080"/>
            <a:ext cx="2889504" cy="73152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What they suggest</a:t>
            </a:r>
            <a:endParaRPr lang="en-US" sz="2200" dirty="0"/>
          </a:p>
        </p:txBody>
      </p:sp>
      <p:sp>
        <p:nvSpPr>
          <p:cNvPr id="12" name="Text 8"/>
          <p:cNvSpPr txBox="1"/>
          <p:nvPr/>
        </p:nvSpPr>
        <p:spPr>
          <a:xfrm>
            <a:off x="4654296" y="3703320"/>
            <a:ext cx="2889504"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Likely explanations, stated as possibilities</a:t>
            </a:r>
            <a:endParaRPr lang="en-US" sz="1600" dirty="0"/>
          </a:p>
        </p:txBody>
      </p:sp>
      <p:sp>
        <p:nvSpPr>
          <p:cNvPr id="13" name="Too limited to tell card"/>
          <p:cNvSpPr/>
          <p:nvPr/>
        </p:nvSpPr>
        <p:spPr>
          <a:xfrm>
            <a:off x="8119872" y="1600200"/>
            <a:ext cx="3529584" cy="4206240"/>
          </a:xfrm>
          <a:prstGeom prst="roundRect">
            <a:avLst>
              <a:gd name="adj" fmla="val 3109"/>
            </a:avLst>
          </a:prstGeom>
          <a:solidFill>
            <a:schemeClr val="bg2"/>
          </a:solidFill>
          <a:ln/>
        </p:spPr>
      </p:sp>
      <p:sp>
        <p:nvSpPr>
          <p:cNvPr id="14" name="Too limited to tell circle"/>
          <p:cNvSpPr/>
          <p:nvPr/>
        </p:nvSpPr>
        <p:spPr>
          <a:xfrm>
            <a:off x="8439912" y="1965960"/>
            <a:ext cx="731520" cy="731520"/>
          </a:xfrm>
          <a:prstGeom prst="ellipse">
            <a:avLst/>
          </a:prstGeom>
          <a:solidFill>
            <a:schemeClr val="accent2"/>
          </a:solidFill>
          <a:ln/>
        </p:spPr>
      </p:sp>
      <p:pic>
        <p:nvPicPr>
          <p:cNvPr id="15" name="Too limited to tell icon" descr="preencoded.png">    </p:cNvPr>
          <p:cNvPicPr>
            <a:picLocks noChangeAspect="1"/>
          </p:cNvPicPr>
          <p:nvPr/>
        </p:nvPicPr>
        <p:blipFill>
          <a:blip r:embed="rId3"/>
          <a:stretch>
            <a:fillRect/>
          </a:stretch>
        </p:blipFill>
        <p:spPr>
          <a:xfrm>
            <a:off x="8622792" y="2148840"/>
            <a:ext cx="365760" cy="365760"/>
          </a:xfrm>
          <a:prstGeom prst="rect">
            <a:avLst/>
          </a:prstGeom>
        </p:spPr>
      </p:pic>
      <p:sp>
        <p:nvSpPr>
          <p:cNvPr id="16" name="Text 11"/>
          <p:cNvSpPr txBox="1"/>
          <p:nvPr/>
        </p:nvSpPr>
        <p:spPr>
          <a:xfrm>
            <a:off x="8439912" y="2926080"/>
            <a:ext cx="2889504" cy="73152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Too limited to tell</a:t>
            </a:r>
            <a:endParaRPr lang="en-US" sz="2200" dirty="0"/>
          </a:p>
        </p:txBody>
      </p:sp>
      <p:sp>
        <p:nvSpPr>
          <p:cNvPr id="17" name="Text 12"/>
          <p:cNvSpPr txBox="1"/>
          <p:nvPr/>
        </p:nvSpPr>
        <p:spPr>
          <a:xfrm>
            <a:off x="8439912" y="3703320"/>
            <a:ext cx="2889504" cy="173736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chemeClr val="tx2"/>
                </a:solidFill>
              </a:rPr>
              <a:t>Questions the data can't answer yet</a:t>
            </a:r>
            <a:endParaRPr lang="en-US" sz="1600" dirty="0"/>
          </a:p>
        </p:txBody>
      </p:sp>
      <p:sp>
        <p:nvSpPr>
          <p:cNvPr id="25" name="Slide Number Placeholder 0"/>
          <p:cNvSpPr>
            <a:spLocks noGrp="1"/>
          </p:cNvSpPr>
          <p:nvPr>
            <p:ph type="sldNum" sz="quarter" idx="4294967295"/>
          </p:nvPr>
        </p:nvSpPr>
        <p:spPr>
          <a:xfrm>
            <a:off x="11091672" y="6318504"/>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accent6"/>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1672" cy="822960"/>
          </a:xfrm>
          <a:prstGeom prst="rect">
            <a:avLst/>
          </a:prstGeom>
          <a:noFill/>
          <a:ln/>
        </p:spPr>
        <p:txBody>
          <a:bodyPr wrap="square" lIns="0" tIns="0" rIns="0" bIns="0" rtlCol="0" anchor="ctr"/>
          <a:lstStyle/>
          <a:p>
            <a:pPr algn="l" indent="0" marL="0">
              <a:buNone/>
            </a:pPr>
            <a:r>
              <a:rPr lang="en-US" sz="3600" b="1" dirty="0">
                <a:solidFill>
                  <a:schemeClr val="tx1"/>
                </a:solidFill>
              </a:rPr>
              <a:t>Limitations</a:t>
            </a:r>
            <a:endParaRPr lang="en-US" sz="3600" dirty="0"/>
          </a:p>
        </p:txBody>
      </p:sp>
      <p:sp>
        <p:nvSpPr>
          <p:cNvPr id="3" name="Text 0"/>
          <p:cNvSpPr/>
          <p:nvPr>
            <p:ph idx="101" type="body" hasCustomPrompt="1"/>
          </p:nvPr>
        </p:nvSpPr>
        <p:spPr>
          <a:xfrm>
            <a:off x="548640" y="1508760"/>
            <a:ext cx="5394960" cy="443484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chemeClr val="tx1"/>
                </a:solidFill>
              </a:rPr>
              <a:t>Areas with few or no monitoring wells</a:t>
            </a:r>
            <a:endParaRPr lang="en-US" sz="1800" dirty="0"/>
          </a:p>
          <a:p>
            <a:pPr marL="342900" indent="-342900">
              <a:spcAft>
                <a:spcPts val="1400"/>
              </a:spcAft>
              <a:buSzPct val="100000"/>
              <a:buChar char="•"/>
            </a:pPr>
            <a:r>
              <a:rPr lang="en-US" sz="1800" dirty="0">
                <a:solidFill>
                  <a:schemeClr val="tx1"/>
                </a:solidFill>
              </a:rPr>
              <a:t>Short or irregular water-level records</a:t>
            </a:r>
            <a:endParaRPr lang="en-US" sz="1800" dirty="0"/>
          </a:p>
          <a:p>
            <a:pPr marL="342900" indent="-342900">
              <a:spcAft>
                <a:spcPts val="1400"/>
              </a:spcAft>
              <a:buSzPct val="100000"/>
              <a:buChar char="•"/>
            </a:pPr>
            <a:r>
              <a:rPr lang="en-US" sz="1800" dirty="0">
                <a:solidFill>
                  <a:schemeClr val="tx1"/>
                </a:solidFill>
              </a:rPr>
              <a:t>Data the project couldn't get</a:t>
            </a:r>
            <a:endParaRPr lang="en-US" sz="1800" dirty="0"/>
          </a:p>
          <a:p>
            <a:pPr marL="342900" indent="-342900">
              <a:spcAft>
                <a:spcPts val="1400"/>
              </a:spcAft>
              <a:buSzPct val="100000"/>
              <a:buChar char="•"/>
            </a:pPr>
            <a:r>
              <a:rPr lang="en-US" sz="1800" dirty="0">
                <a:solidFill>
                  <a:schemeClr val="tx1"/>
                </a:solidFill>
              </a:rPr>
              <a:t>What a stronger study would need</a:t>
            </a:r>
            <a:endParaRPr lang="en-US" sz="1800" dirty="0"/>
          </a:p>
        </p:txBody>
      </p:sp>
      <p:sp>
        <p:nvSpPr>
          <p:cNvPr id="4" name="Drop zone (delete after adding your image)"/>
          <p:cNvSpPr/>
          <p:nvPr/>
        </p:nvSpPr>
        <p:spPr>
          <a:xfrm>
            <a:off x="6355080" y="1508760"/>
            <a:ext cx="5285232" cy="4434840"/>
          </a:xfrm>
          <a:prstGeom prst="roundRect">
            <a:avLst>
              <a:gd name="adj" fmla="val 2474"/>
            </a:avLst>
          </a:prstGeom>
          <a:solidFill>
            <a:schemeClr val="bg2"/>
          </a:solidFill>
          <a:ln w="19050">
            <a:solidFill>
              <a:schemeClr val="accent3"/>
            </a:solidFill>
            <a:prstDash val="dash"/>
          </a:ln>
        </p:spPr>
      </p:sp>
      <p:sp>
        <p:nvSpPr>
          <p:cNvPr id="5" name="Drop zone circle"/>
          <p:cNvSpPr/>
          <p:nvPr/>
        </p:nvSpPr>
        <p:spPr>
          <a:xfrm>
            <a:off x="8586216" y="2857500"/>
            <a:ext cx="822960" cy="822960"/>
          </a:xfrm>
          <a:prstGeom prst="ellipse">
            <a:avLst/>
          </a:prstGeom>
          <a:solidFill>
            <a:schemeClr val="bg1"/>
          </a:solidFill>
          <a:ln/>
        </p:spPr>
      </p:sp>
      <p:pic>
        <p:nvPicPr>
          <p:cNvPr id="6" name="Drop zone icon" descr="preencoded.png">    </p:cNvPr>
          <p:cNvPicPr>
            <a:picLocks noChangeAspect="1"/>
          </p:cNvPicPr>
          <p:nvPr/>
        </p:nvPicPr>
        <p:blipFill>
          <a:blip r:embed="rId1"/>
          <a:stretch>
            <a:fillRect/>
          </a:stretch>
        </p:blipFill>
        <p:spPr>
          <a:xfrm>
            <a:off x="8791956" y="3063240"/>
            <a:ext cx="411480" cy="411480"/>
          </a:xfrm>
          <a:prstGeom prst="rect">
            <a:avLst/>
          </a:prstGeom>
        </p:spPr>
      </p:pic>
      <p:sp>
        <p:nvSpPr>
          <p:cNvPr id="7" name="Drop zone label"/>
          <p:cNvSpPr txBox="1"/>
          <p:nvPr/>
        </p:nvSpPr>
        <p:spPr>
          <a:xfrm>
            <a:off x="6720840" y="3817620"/>
            <a:ext cx="4553712" cy="868680"/>
          </a:xfrm>
          <a:prstGeom prst="rect">
            <a:avLst/>
          </a:prstGeom>
          <a:noFill/>
          <a:ln/>
        </p:spPr>
        <p:txBody>
          <a:bodyPr wrap="square" lIns="0" tIns="0" rIns="0" bIns="0" rtlCol="0" anchor="t"/>
          <a:lstStyle/>
          <a:p>
            <a:pPr algn="ctr" indent="0" marL="0">
              <a:spcAft>
                <a:spcPts val="400"/>
              </a:spcAft>
              <a:buNone/>
            </a:pPr>
            <a:r>
              <a:rPr lang="en-US" sz="1800" b="1" dirty="0">
                <a:solidFill>
                  <a:schemeClr val="tx1"/>
                </a:solidFill>
              </a:rPr>
              <a:t>Data coverage map</a:t>
            </a:r>
            <a:endParaRPr lang="en-US" sz="1800" dirty="0"/>
          </a:p>
          <a:p>
            <a:pPr algn="ctr" indent="0" marL="0">
              <a:spcAft>
                <a:spcPts val="400"/>
              </a:spcAft>
              <a:buNone/>
            </a:pPr>
            <a:r>
              <a:rPr lang="en-US" sz="1400" dirty="0">
                <a:solidFill>
                  <a:schemeClr val="accent6"/>
                </a:solidFill>
              </a:rPr>
              <a:t>Where monitoring is dense, sparse, or absent</a:t>
            </a:r>
            <a:endParaRPr lang="en-US" sz="1800" dirty="0"/>
          </a:p>
        </p:txBody>
      </p:sp>
      <p:sp>
        <p:nvSpPr>
          <p:cNvPr id="25" name="Slide Number Placeholder 0"/>
          <p:cNvSpPr>
            <a:spLocks noGrp="1"/>
          </p:cNvSpPr>
          <p:nvPr>
            <p:ph type="sldNum" sz="quarter" idx="4294967295"/>
          </p:nvPr>
        </p:nvSpPr>
        <p:spPr>
          <a:xfrm>
            <a:off x="11091672" y="6318504"/>
            <a:ext cx="548640" cy="329184"/>
          </a:xfrm>
          <a:prstGeom prst="rect">
            <a:avLst/>
          </a:prstGeom>
          <a:extLst>
            <a:ext uri="{C572A759-6A51-4108-AA02-DFA0A04FC94B}">
              <ma14:wrappingTextBoxFlag xmlns:ma14="http://schemas.microsoft.com/office/mac/drawingml/2011/main" val="0"/>
            </a:ext>
          </a:extLst>
        </p:spPr>
        <p:txBody>
          <a:bodyPr anchor="ctr"/>
          <a:lstStyle>
            <a:lvl1pPr>
              <a:defRPr sz="1000">
                <a:solidFill>
                  <a:schemeClr val="accent6"/>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777240"/>
          </a:xfrm>
          <a:prstGeom prst="rect">
            <a:avLst/>
          </a:prstGeom>
          <a:noFill/>
          <a:ln/>
        </p:spPr>
        <p:txBody>
          <a:bodyPr wrap="square" lIns="0" tIns="0" rIns="0" bIns="0" rtlCol="0" anchor="ctr"/>
          <a:lstStyle/>
          <a:p>
            <a:pPr algn="l" indent="0" marL="0">
              <a:buNone/>
            </a:pPr>
            <a:r>
              <a:rPr lang="en-US" sz="3600" b="1" dirty="0">
                <a:solidFill>
                  <a:schemeClr val="bg1"/>
                </a:solidFill>
              </a:rPr>
              <a:t>Explore the data, code, and app</a:t>
            </a:r>
            <a:endParaRPr lang="en-US" sz="3600" dirty="0"/>
          </a:p>
        </p:txBody>
      </p:sp>
      <p:sp>
        <p:nvSpPr>
          <p:cNvPr id="3" name="GitHub repository card"/>
          <p:cNvSpPr/>
          <p:nvPr/>
        </p:nvSpPr>
        <p:spPr>
          <a:xfrm>
            <a:off x="731520" y="1417320"/>
            <a:ext cx="5852160" cy="566928"/>
          </a:xfrm>
          <a:prstGeom prst="roundRect">
            <a:avLst>
              <a:gd name="adj" fmla="val 16129"/>
            </a:avLst>
          </a:prstGeom>
          <a:solidFill>
            <a:schemeClr val="bg1"/>
          </a:solidFill>
          <a:ln/>
        </p:spPr>
      </p:sp>
      <p:sp>
        <p:nvSpPr>
          <p:cNvPr id="4" name="GitHub repository circle"/>
          <p:cNvSpPr/>
          <p:nvPr/>
        </p:nvSpPr>
        <p:spPr>
          <a:xfrm>
            <a:off x="859536" y="1499616"/>
            <a:ext cx="402336" cy="402336"/>
          </a:xfrm>
          <a:prstGeom prst="ellipse">
            <a:avLst/>
          </a:prstGeom>
          <a:solidFill>
            <a:schemeClr val="accent1"/>
          </a:solidFill>
          <a:ln/>
        </p:spPr>
      </p:sp>
      <p:pic>
        <p:nvPicPr>
          <p:cNvPr id="5" name="GitHub repository icon" descr="preencoded.png">    </p:cNvPr>
          <p:cNvPicPr>
            <a:picLocks noChangeAspect="1"/>
          </p:cNvPicPr>
          <p:nvPr/>
        </p:nvPicPr>
        <p:blipFill>
          <a:blip r:embed="rId1"/>
          <a:stretch>
            <a:fillRect/>
          </a:stretch>
        </p:blipFill>
        <p:spPr>
          <a:xfrm>
            <a:off x="960120" y="1600200"/>
            <a:ext cx="201168" cy="201168"/>
          </a:xfrm>
          <a:prstGeom prst="rect">
            <a:avLst/>
          </a:prstGeom>
        </p:spPr>
      </p:pic>
      <p:sp>
        <p:nvSpPr>
          <p:cNvPr id="6" name="Text 3"/>
          <p:cNvSpPr txBox="1"/>
          <p:nvPr/>
        </p:nvSpPr>
        <p:spPr>
          <a:xfrm>
            <a:off x="1444752" y="1463040"/>
            <a:ext cx="4983480" cy="475488"/>
          </a:xfrm>
          <a:prstGeom prst="rect">
            <a:avLst/>
          </a:prstGeom>
          <a:noFill/>
          <a:ln/>
        </p:spPr>
        <p:txBody>
          <a:bodyPr wrap="square" lIns="0" tIns="0" rIns="0" bIns="0" rtlCol="0" anchor="ctr"/>
          <a:lstStyle/>
          <a:p>
            <a:pPr indent="0" marL="0">
              <a:buNone/>
            </a:pPr>
            <a:r>
              <a:rPr lang="en-US" sz="1400" b="1" dirty="0">
                <a:solidFill>
                  <a:schemeClr val="tx1"/>
                </a:solidFill>
              </a:rPr>
              <a:t>GitHub repository</a:t>
            </a:r>
            <a:endParaRPr lang="en-US" sz="1400" dirty="0"/>
          </a:p>
          <a:p>
            <a:pPr indent="0" marL="0">
              <a:buNone/>
            </a:pPr>
            <a:r>
              <a:rPr lang="en-US" sz="1300" u="sng" dirty="0">
                <a:solidFill>
                  <a:srgbClr val="000000"/>
                </a:solidFill>
                <a:hlinkClick r:id="rId2" invalidUrl="" action="" tgtFrame="" tooltip="" history="1" highlightClick="0" endSnd="0">
                  <a:extLst>
                    <a:ext uri="{A12FA001-AC4F-418D-AE19-62706E023703}">
                      <ahyp:hlinkClr xmlns:ahyp="http://schemas.microsoft.com/office/drawing/2018/hyperlinkcolor" val="tx"/>
                    </a:ext>
                  </a:extLst>
                </a:hlinkClick>
              </a:rPr>
              <a:t>github.com/pdjordj11/eng_220_aquifer_project</a:t>
            </a:r>
            <a:endParaRPr lang="en-US" sz="1400" dirty="0"/>
          </a:p>
        </p:txBody>
      </p:sp>
      <p:sp>
        <p:nvSpPr>
          <p:cNvPr id="7" name="Streamlit app card"/>
          <p:cNvSpPr/>
          <p:nvPr/>
        </p:nvSpPr>
        <p:spPr>
          <a:xfrm>
            <a:off x="731520" y="2093976"/>
            <a:ext cx="5852160" cy="566928"/>
          </a:xfrm>
          <a:prstGeom prst="roundRect">
            <a:avLst>
              <a:gd name="adj" fmla="val 16129"/>
            </a:avLst>
          </a:prstGeom>
          <a:solidFill>
            <a:schemeClr val="bg1"/>
          </a:solidFill>
          <a:ln/>
        </p:spPr>
      </p:sp>
      <p:sp>
        <p:nvSpPr>
          <p:cNvPr id="8" name="Streamlit app circle"/>
          <p:cNvSpPr/>
          <p:nvPr/>
        </p:nvSpPr>
        <p:spPr>
          <a:xfrm>
            <a:off x="859536" y="2176272"/>
            <a:ext cx="402336" cy="402336"/>
          </a:xfrm>
          <a:prstGeom prst="ellipse">
            <a:avLst/>
          </a:prstGeom>
          <a:solidFill>
            <a:schemeClr val="accent1"/>
          </a:solidFill>
          <a:ln/>
        </p:spPr>
      </p:sp>
      <p:pic>
        <p:nvPicPr>
          <p:cNvPr id="9" name="Streamlit app icon" descr="preencoded.png">    </p:cNvPr>
          <p:cNvPicPr>
            <a:picLocks noChangeAspect="1"/>
          </p:cNvPicPr>
          <p:nvPr/>
        </p:nvPicPr>
        <p:blipFill>
          <a:blip r:embed="rId3"/>
          <a:stretch>
            <a:fillRect/>
          </a:stretch>
        </p:blipFill>
        <p:spPr>
          <a:xfrm>
            <a:off x="960120" y="2276856"/>
            <a:ext cx="201168" cy="201168"/>
          </a:xfrm>
          <a:prstGeom prst="rect">
            <a:avLst/>
          </a:prstGeom>
        </p:spPr>
      </p:pic>
      <p:sp>
        <p:nvSpPr>
          <p:cNvPr id="10" name="Text 6"/>
          <p:cNvSpPr txBox="1"/>
          <p:nvPr/>
        </p:nvSpPr>
        <p:spPr>
          <a:xfrm>
            <a:off x="1444752" y="2139696"/>
            <a:ext cx="4983480" cy="475488"/>
          </a:xfrm>
          <a:prstGeom prst="rect">
            <a:avLst/>
          </a:prstGeom>
          <a:noFill/>
          <a:ln/>
        </p:spPr>
        <p:txBody>
          <a:bodyPr wrap="square" lIns="0" tIns="0" rIns="0" bIns="0" rtlCol="0" anchor="ctr"/>
          <a:lstStyle/>
          <a:p>
            <a:pPr indent="0" marL="0">
              <a:buNone/>
            </a:pPr>
            <a:r>
              <a:rPr lang="en-US" sz="1400" b="1" dirty="0">
                <a:solidFill>
                  <a:schemeClr val="tx1"/>
                </a:solidFill>
              </a:rPr>
              <a:t>Streamlit app</a:t>
            </a:r>
            <a:endParaRPr lang="en-US" sz="1400" dirty="0"/>
          </a:p>
          <a:p>
            <a:pPr indent="0" marL="0">
              <a:buNone/>
            </a:pPr>
            <a:r>
              <a:rPr lang="en-US" sz="1300" u="sng" dirty="0">
                <a:solidFill>
                  <a:srgbClr val="000000"/>
                </a:solidFill>
                <a:hlinkClick r:id="rId4" invalidUrl="" action="" tgtFrame="" tooltip="" history="1" highlightClick="0" endSnd="0">
                  <a:extLst>
                    <a:ext uri="{A12FA001-AC4F-418D-AE19-62706E023703}">
                      <ahyp:hlinkClr xmlns:ahyp="http://schemas.microsoft.com/office/drawing/2018/hyperlinkcolor" val="tx"/>
                    </a:ext>
                  </a:extLst>
                </a:hlinkClick>
              </a:rPr>
              <a:t>eng220aquiferproject.streamlit.app</a:t>
            </a:r>
            <a:endParaRPr lang="en-US" sz="1400" dirty="0"/>
          </a:p>
        </p:txBody>
      </p:sp>
      <p:sp>
        <p:nvSpPr>
          <p:cNvPr id="11" name="Documentation card"/>
          <p:cNvSpPr/>
          <p:nvPr/>
        </p:nvSpPr>
        <p:spPr>
          <a:xfrm>
            <a:off x="731520" y="2770632"/>
            <a:ext cx="5852160" cy="566928"/>
          </a:xfrm>
          <a:prstGeom prst="roundRect">
            <a:avLst>
              <a:gd name="adj" fmla="val 16129"/>
            </a:avLst>
          </a:prstGeom>
          <a:solidFill>
            <a:schemeClr val="bg1"/>
          </a:solidFill>
          <a:ln/>
        </p:spPr>
      </p:sp>
      <p:sp>
        <p:nvSpPr>
          <p:cNvPr id="12" name="Documentation circle"/>
          <p:cNvSpPr/>
          <p:nvPr/>
        </p:nvSpPr>
        <p:spPr>
          <a:xfrm>
            <a:off x="859536" y="2852928"/>
            <a:ext cx="402336" cy="402336"/>
          </a:xfrm>
          <a:prstGeom prst="ellipse">
            <a:avLst/>
          </a:prstGeom>
          <a:solidFill>
            <a:schemeClr val="accent1"/>
          </a:solidFill>
          <a:ln/>
        </p:spPr>
      </p:sp>
      <p:pic>
        <p:nvPicPr>
          <p:cNvPr id="13" name="Documentation icon" descr="preencoded.png">    </p:cNvPr>
          <p:cNvPicPr>
            <a:picLocks noChangeAspect="1"/>
          </p:cNvPicPr>
          <p:nvPr/>
        </p:nvPicPr>
        <p:blipFill>
          <a:blip r:embed="rId5"/>
          <a:stretch>
            <a:fillRect/>
          </a:stretch>
        </p:blipFill>
        <p:spPr>
          <a:xfrm>
            <a:off x="960120" y="2953512"/>
            <a:ext cx="201168" cy="201168"/>
          </a:xfrm>
          <a:prstGeom prst="rect">
            <a:avLst/>
          </a:prstGeom>
        </p:spPr>
      </p:pic>
      <p:sp>
        <p:nvSpPr>
          <p:cNvPr id="14" name="Text 9"/>
          <p:cNvSpPr txBox="1"/>
          <p:nvPr/>
        </p:nvSpPr>
        <p:spPr>
          <a:xfrm>
            <a:off x="1444752" y="2816352"/>
            <a:ext cx="4983480" cy="475488"/>
          </a:xfrm>
          <a:prstGeom prst="rect">
            <a:avLst/>
          </a:prstGeom>
          <a:noFill/>
          <a:ln/>
        </p:spPr>
        <p:txBody>
          <a:bodyPr wrap="square" lIns="0" tIns="0" rIns="0" bIns="0" rtlCol="0" anchor="ctr"/>
          <a:lstStyle/>
          <a:p>
            <a:pPr indent="0" marL="0">
              <a:buNone/>
            </a:pPr>
            <a:r>
              <a:rPr lang="en-US" sz="1400" b="1" dirty="0">
                <a:solidFill>
                  <a:schemeClr val="tx1"/>
                </a:solidFill>
              </a:rPr>
              <a:t>Documentation</a:t>
            </a:r>
            <a:endParaRPr lang="en-US" sz="1400" dirty="0"/>
          </a:p>
          <a:p>
            <a:pPr indent="0" marL="0">
              <a:buNone/>
            </a:pPr>
            <a:r>
              <a:rPr lang="en-US" sz="1300" u="sng" dirty="0">
                <a:solidFill>
                  <a:srgbClr val="000000"/>
                </a:solidFill>
                <a:hlinkClick r:id="rId6" invalidUrl="" action="" tgtFrame="" tooltip="" history="1" highlightClick="0" endSnd="0">
                  <a:extLst>
                    <a:ext uri="{A12FA001-AC4F-418D-AE19-62706E023703}">
                      <ahyp:hlinkClr xmlns:ahyp="http://schemas.microsoft.com/office/drawing/2018/hyperlinkcolor" val="tx"/>
                    </a:ext>
                  </a:extLst>
                </a:hlinkClick>
              </a:rPr>
              <a:t>pdjordj11.github.io/eng_220_aquifer_project</a:t>
            </a:r>
            <a:endParaRPr lang="en-US" sz="1400" dirty="0"/>
          </a:p>
        </p:txBody>
      </p:sp>
      <p:sp>
        <p:nvSpPr>
          <p:cNvPr id="15" name="Datasets card"/>
          <p:cNvSpPr/>
          <p:nvPr/>
        </p:nvSpPr>
        <p:spPr>
          <a:xfrm>
            <a:off x="731520" y="3447288"/>
            <a:ext cx="5852160" cy="566928"/>
          </a:xfrm>
          <a:prstGeom prst="roundRect">
            <a:avLst>
              <a:gd name="adj" fmla="val 16129"/>
            </a:avLst>
          </a:prstGeom>
          <a:solidFill>
            <a:schemeClr val="bg1"/>
          </a:solidFill>
          <a:ln/>
        </p:spPr>
      </p:sp>
      <p:sp>
        <p:nvSpPr>
          <p:cNvPr id="16" name="Datasets circle"/>
          <p:cNvSpPr/>
          <p:nvPr/>
        </p:nvSpPr>
        <p:spPr>
          <a:xfrm>
            <a:off x="859536" y="3529584"/>
            <a:ext cx="402336" cy="402336"/>
          </a:xfrm>
          <a:prstGeom prst="ellipse">
            <a:avLst/>
          </a:prstGeom>
          <a:solidFill>
            <a:schemeClr val="accent1"/>
          </a:solidFill>
          <a:ln/>
        </p:spPr>
      </p:sp>
      <p:pic>
        <p:nvPicPr>
          <p:cNvPr id="17" name="Datasets icon" descr="preencoded.png">    </p:cNvPr>
          <p:cNvPicPr>
            <a:picLocks noChangeAspect="1"/>
          </p:cNvPicPr>
          <p:nvPr/>
        </p:nvPicPr>
        <p:blipFill>
          <a:blip r:embed="rId7"/>
          <a:stretch>
            <a:fillRect/>
          </a:stretch>
        </p:blipFill>
        <p:spPr>
          <a:xfrm>
            <a:off x="960120" y="3630168"/>
            <a:ext cx="201168" cy="201168"/>
          </a:xfrm>
          <a:prstGeom prst="rect">
            <a:avLst/>
          </a:prstGeom>
        </p:spPr>
      </p:pic>
      <p:sp>
        <p:nvSpPr>
          <p:cNvPr id="18" name="Text 12"/>
          <p:cNvSpPr txBox="1"/>
          <p:nvPr/>
        </p:nvSpPr>
        <p:spPr>
          <a:xfrm>
            <a:off x="1444752" y="3493008"/>
            <a:ext cx="4983480" cy="475488"/>
          </a:xfrm>
          <a:prstGeom prst="rect">
            <a:avLst/>
          </a:prstGeom>
          <a:noFill/>
          <a:ln/>
        </p:spPr>
        <p:txBody>
          <a:bodyPr wrap="square" lIns="0" tIns="0" rIns="0" bIns="0" rtlCol="0" anchor="ctr"/>
          <a:lstStyle/>
          <a:p>
            <a:pPr indent="0" marL="0">
              <a:buNone/>
            </a:pPr>
            <a:r>
              <a:rPr lang="en-US" sz="1400" b="1" dirty="0">
                <a:solidFill>
                  <a:schemeClr val="tx1"/>
                </a:solidFill>
              </a:rPr>
              <a:t>Datasets</a:t>
            </a:r>
            <a:endParaRPr lang="en-US" sz="1400" dirty="0"/>
          </a:p>
          <a:p>
            <a:pPr indent="0" marL="0">
              <a:buNone/>
            </a:pPr>
            <a:r>
              <a:rPr lang="en-US" sz="1300" u="sng" dirty="0">
                <a:solidFill>
                  <a:srgbClr val="000000"/>
                </a:solidFill>
                <a:hlinkClick r:id="rId8" invalidUrl="" action="" tgtFrame="" tooltip="" history="1" highlightClick="0" endSnd="0">
                  <a:extLst>
                    <a:ext uri="{A12FA001-AC4F-418D-AE19-62706E023703}">
                      <ahyp:hlinkClr xmlns:ahyp="http://schemas.microsoft.com/office/drawing/2018/hyperlinkcolor" val="tx"/>
                    </a:ext>
                  </a:extLst>
                </a:hlinkClick>
              </a:rPr>
              <a:t>github.com/pdjordj11/eng_220_aquifer_project/tree/main/data</a:t>
            </a:r>
            <a:endParaRPr lang="en-US" sz="1400" dirty="0"/>
          </a:p>
        </p:txBody>
      </p:sp>
    </p:spTree>
  </p:cSld>
  <p:clrMapOvr>
    <a:masterClrMapping/>
  </p:clrMapOvr>
</p:sld>
</file>

<file path=ppt/theme/theme1.xml><?xml version="1.0" encoding="utf-8"?>
<a:theme xmlns:a="http://schemas.openxmlformats.org/drawingml/2006/main" name="Beneath the Mesa">
  <a:themeElements>
    <a:clrScheme name="Beneath the Mesa">
      <a:dk1>
        <a:srgbClr val="0E2A3B"/>
      </a:dk1>
      <a:lt1>
        <a:srgbClr val="FFFFFF"/>
      </a:lt1>
      <a:dk2>
        <a:srgbClr val="12455C"/>
      </a:dk2>
      <a:lt2>
        <a:srgbClr val="EEF5F7"/>
      </a:lt2>
      <a:accent1>
        <a:srgbClr val="1B7A8C"/>
      </a:accent1>
      <a:accent2>
        <a:srgbClr val="C2703D"/>
      </a:accent2>
      <a:accent3>
        <a:srgbClr val="5FB3C4"/>
      </a:accent3>
      <a:accent4>
        <a:srgbClr val="D9A066"/>
      </a:accent4>
      <a:accent5>
        <a:srgbClr val="2E5E4E"/>
      </a:accent5>
      <a:accent6>
        <a:srgbClr val="5F7380"/>
      </a:accent6>
      <a:hlink>
        <a:srgbClr val="1B7A8C"/>
      </a:hlink>
      <a:folHlink>
        <a:srgbClr val="2E5E4E"/>
      </a:folHlink>
    </a:clrScheme>
    <a:fontScheme name="Beneath the Mesa">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Beneath the Mesa</dc:title>
  <dc:subject>ENG 220 Team 23 presentation</dc:subject>
  <dc:creator>ENG 220 Team 23</dc:creator>
  <cp:lastModifiedBy>ENG 220 Team 23</cp:lastModifiedBy>
  <cp:revision>1</cp:revision>
  <dcterms:created xsi:type="dcterms:W3CDTF">2026-10-26T18:04:37Z</dcterms:created>
  <dcterms:modified xsi:type="dcterms:W3CDTF">2026-10-26T18:04:37Z</dcterms:modified>
</cp:coreProperties>
</file>