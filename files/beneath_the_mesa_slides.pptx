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c25e1b8-b8f5-3d64-0c55-9195b65bef45}">
          <p14:sldIdLst>
            <p14:sldId id="256"/>
            <p14:sldId id="257"/>
            <p14:sldId id="258"/>
          </p14:sldIdLst>
        </p14:section>
        <p14:section name="Data and methods" id="{957f342e-54b9-274a-dd52-1996d47596dc}">
          <p14:sldIdLst>
            <p14:sldId id="259"/>
            <p14:sldId id="260"/>
          </p14:sldIdLst>
        </p14:section>
        <p14:section name="Team contributions" id="{2ab2fcd0-9653-9039-7eec-16b040df8a21}">
          <p14:sldIdLst>
            <p14:sldId id="261"/>
            <p14:sldId id="262"/>
            <p14:sldId id="263"/>
            <p14:sldId id="264"/>
            <p14:sldId id="265"/>
          </p14:sldIdLst>
        </p14:section>
        <p14:section name="Results" id="{ed544e21-b374-4726-05e8-bcea12b124a9}">
          <p14:sldIdLst>
            <p14:sldId id="266"/>
            <p14:sldId id="267"/>
            <p14:sldId id="268"/>
          </p14:sldIdLst>
        </p14:section>
        <p14:section name="Wrap-up" id="{0a323fce-bf49-0321-96c0-9bb6832dfaa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Introduce the project title and every team member by full name (the rubric requires full names on this slide).
Timing guide for the 7-minute video: Title 0:15, Background 0:35, Research questions 0:30, Data 0:30, Methods 0:20, Member slides 0:30 each (2:30 total), Results 1:00, Findings 0:45, Limitations 0:20, Links 0:10.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Replace the bullets with your own points. Add a map: Insert &gt; Pictures, drop it over the dashed box, then delete the box.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Pick the three questions the results actually answer. The full list of nine is in the proposal and on the app's home page; rename the row headings if you pick different ones.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For each dataset: who published it, what it measures, the years covered, and how many wells or sites are in Sandoval County. Delete any card whose data the project didn't end up using.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A quick overview of the five stages. Each member explains their own stage in detail on the next five slides.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Dylan Gonzales records this slide. Cover what you did, how you did it, and one thing you learned. Put a screenshot in the dashed box: a data source page or the raw dataset.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James Wanueka records this slide. Cover what you did, how you did it, and one thing you learned. Put a screenshot in the dashed box: the cleaning script, or the data before and after.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Micah Watkins records this slide. Cover what you did, how you did it, and one thing you learned. Put a screenshot in the dashed box: a chart from the analysis.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Meckrem Yousef records this slide. Cover what you did, how you did it, and one thing you learned. Put a screenshot in the dashed box: a page of the live app.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Petar Djordjevic records this slide. Cover what you did, how you did it, and one thing you learned. Put a screenshot in the dashed box: the documentation site or a page of the report.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across all results slides. Duplicate this slide (right-click &gt; Duplicate Slide) for each chart. Rubric: the results slides must show graphs and screenshots of the outputs.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Keep the three levels of certainty separate. The bottom line answers the main question from the research-questions slide.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Name the data gaps and what the results can't support.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Rubric: the final slide must link to the datasets, the GitHub repository, and the Streamlit app. Once Dylan adds the exact download pages to the Data collection docs page, add them here too.
The circle in the bottom-right corner is where the presenter's camera goes; keep charts and text out of that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dark)-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Title-only-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Title-and-conten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losing-(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768096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r>
              <a:rPr lang="en-US" sz="5400" b="1" dirty="0">
                <a:solidFill>
                  <a:schemeClr val="bg1"/>
                </a:solidFill>
              </a:rPr>
              <a:t>Presentation title</a:t>
            </a:r>
            <a:endParaRPr lang="en-US" sz="5400" dirty="0"/>
          </a:p>
        </p:txBody>
      </p:sp>
      <p:sp>
        <p:nvSpPr>
          <p:cNvPr id="3" name="Text 0"/>
          <p:cNvSpPr/>
          <p:nvPr>
            <p:ph idx="101" type="body" hasCustomPrompt="1"/>
          </p:nvPr>
        </p:nvSpPr>
        <p:spPr>
          <a:xfrm>
            <a:off x="731520" y="2148840"/>
            <a:ext cx="694944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
        <p:nvSpPr>
          <p:cNvPr id="4" name="Text 0"/>
          <p:cNvSpPr/>
          <p:nvPr>
            <p:ph idx="102" type="body" hasCustomPrompt="1"/>
          </p:nvPr>
        </p:nvSpPr>
        <p:spPr>
          <a:xfrm>
            <a:off x="731520" y="3291840"/>
            <a:ext cx="6949440" cy="6858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r>
              <a:rPr lang="en-US" sz="1600" b="1" dirty="0">
                <a:solidFill>
                  <a:schemeClr val="accent4"/>
                </a:solidFill>
              </a:rPr>
              <a:t>Team members</a:t>
            </a:r>
            <a:endParaRPr lang="en-US" sz="1600" dirty="0"/>
          </a:p>
        </p:txBody>
      </p:sp>
      <p:sp>
        <p:nvSpPr>
          <p:cNvPr id="5" name="Text 0"/>
          <p:cNvSpPr/>
          <p:nvPr>
            <p:ph idx="103" type="body" hasCustomPrompt="1"/>
          </p:nvPr>
        </p:nvSpPr>
        <p:spPr>
          <a:xfrm>
            <a:off x="731520" y="4023360"/>
            <a:ext cx="6949440" cy="365760"/>
          </a:xfrm>
          <a:prstGeom prst="rect">
            <a:avLst/>
          </a:prstGeom>
          <a:noFill/>
          <a:ln/>
        </p:spPr>
        <p:txBody>
          <a:bodyPr wrap="square" rtlCol="0"/>
          <a:lstStyle>
            <a:lvl1pPr indent="0" marL="0">
              <a:buNone/>
              <a:defRPr lang="en-US" sz="1400" dirty="0">
                <a:solidFill>
                  <a:schemeClr val="accent3"/>
                </a:solidFill>
              </a:defRPr>
            </a:lvl1pPr>
          </a:lstStyle>
          <a:p>
            <a:pPr indent="0" marL="0">
              <a:buNone/>
            </a:pPr>
            <a:r>
              <a:rPr lang="en-US" sz="1400" dirty="0">
                <a:solidFill>
                  <a:schemeClr val="accent3"/>
                </a:solidFill>
              </a:rPr>
              <a:t>Course and date</a:t>
            </a:r>
            <a:endParaRPr lang="en-US" sz="1400" dirty="0"/>
          </a:p>
        </p:txBody>
      </p:sp>
      <p:pic>
        <p:nvPicPr>
          <p:cNvPr id="6"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Slide title</a:t>
            </a:r>
            <a:endParaRPr lang="en-US" sz="3600" dirty="0"/>
          </a:p>
        </p:txBody>
      </p:sp>
      <p:sp>
        <p:nvSpPr>
          <p:cNvPr id="3" name="Text 0"/>
          <p:cNvSpPr/>
          <p:nvPr/>
        </p:nvSpPr>
        <p:spPr>
          <a:xfrm>
            <a:off x="960120" y="6400800"/>
            <a:ext cx="4572000" cy="292608"/>
          </a:xfrm>
          <a:prstGeom prst="rect">
            <a:avLst/>
          </a:prstGeom>
          <a:noFill/>
          <a:ln/>
        </p:spPr>
        <p:txBody>
          <a:bodyPr wrap="square" lIns="0" tIns="0" rIns="0" bIns="0" rtlCol="0" anchor="ctr"/>
          <a:lstStyle/>
          <a:p>
            <a:pPr indent="0" marL="0">
              <a:buNone/>
            </a:pPr>
            <a:r>
              <a:rPr lang="en-US" sz="1000" dirty="0">
                <a:solidFill>
                  <a:schemeClr val="bg2"/>
                </a:solidFill>
              </a:rPr>
              <a:t>Beneath the Mesa  ·  ENG 220 Team 23</a:t>
            </a:r>
            <a:endParaRPr lang="en-US" sz="1000" dirty="0"/>
          </a:p>
        </p:txBody>
      </p:sp>
      <p:pic>
        <p:nvPicPr>
          <p:cNvPr id="4"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Slide title</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rtlCol="0"/>
          <a:lstStyle>
            <a:lvl1pPr indent="0" marL="0">
              <a:buNone/>
              <a:defRPr lang="en-US" sz="1800" dirty="0">
                <a:solidFill>
                  <a:schemeClr val="tx1"/>
                </a:solidFill>
              </a:defRPr>
            </a:lvl1pPr>
          </a:lstStyle>
          <a:p>
            <a:pPr indent="0" marL="0">
              <a:buNone/>
            </a:pPr>
            <a:r>
              <a:rPr lang="en-US" sz="1800" dirty="0">
                <a:solidFill>
                  <a:schemeClr val="tx1"/>
                </a:solidFill>
              </a:rPr>
              <a:t>Add bullet points</a:t>
            </a:r>
            <a:endParaRPr lang="en-US" sz="1800" dirty="0"/>
          </a:p>
        </p:txBody>
      </p:sp>
      <p:sp>
        <p:nvSpPr>
          <p:cNvPr id="4" name="Text 0"/>
          <p:cNvSpPr/>
          <p:nvPr/>
        </p:nvSpPr>
        <p:spPr>
          <a:xfrm>
            <a:off x="960120" y="6400800"/>
            <a:ext cx="4572000" cy="292608"/>
          </a:xfrm>
          <a:prstGeom prst="rect">
            <a:avLst/>
          </a:prstGeom>
          <a:noFill/>
          <a:ln/>
        </p:spPr>
        <p:txBody>
          <a:bodyPr wrap="square" lIns="0" tIns="0" rIns="0" bIns="0" rtlCol="0" anchor="ctr"/>
          <a:lstStyle/>
          <a:p>
            <a:pPr indent="0" marL="0">
              <a:buNone/>
            </a:pPr>
            <a:r>
              <a:rPr lang="en-US" sz="1000" dirty="0">
                <a:solidFill>
                  <a:schemeClr val="bg2"/>
                </a:solidFill>
              </a:rPr>
              <a:t>Beneath the Mesa  ·  ENG 220 Team 23</a:t>
            </a:r>
            <a:endParaRPr lang="en-US" sz="1000" dirty="0"/>
          </a:p>
        </p:txBody>
      </p:sp>
      <p:pic>
        <p:nvPicPr>
          <p:cNvPr id="5"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title</a:t>
            </a:r>
            <a:endParaRPr lang="en-US" sz="3600" dirty="0"/>
          </a:p>
        </p:txBody>
      </p:sp>
      <p:pic>
        <p:nvPicPr>
          <p:cNvPr id="3" name="Image 0" descr="Camera circle: the presenter's video goes here">    </p:cNvPr>
          <p:cNvPicPr>
            <a:picLocks noChangeAspect="1"/>
          </p:cNvPicPr>
          <p:nvPr/>
        </p:nvPicPr>
        <p:blipFill>
          <a:blip r:embed="rId1"/>
          <a:stretch>
            <a:fillRect/>
          </a:stretch>
        </p:blipFill>
        <p:spPr>
          <a:xfrm>
            <a:off x="10058400" y="4754880"/>
            <a:ext cx="1828800" cy="18288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pdjordj11/eng_220_aquifer_project" TargetMode="External"/><Relationship Id="rId4" Type="http://schemas.openxmlformats.org/officeDocument/2006/relationships/hyperlink" Target="https://eng220aquiferproject.streamlit.app/" TargetMode="External"/><Relationship Id="rId6" Type="http://schemas.openxmlformats.org/officeDocument/2006/relationships/hyperlink" Target="https://pdjordj11.github.io/eng_220_aquifer_project/" TargetMode="External"/><Relationship Id="rId8" Type="http://schemas.openxmlformats.org/officeDocument/2006/relationships/hyperlink" Target="https://github.com/pdjordj11/eng_220_aquifer_project/tree/main/data"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image" Target="../media/image-14-3.png"/><Relationship Id="rId7" Type="http://schemas.openxmlformats.org/officeDocument/2006/relationships/image" Target="../media/image-14-4.png"/><Relationship Id="rId9" Type="http://schemas.openxmlformats.org/officeDocument/2006/relationships/slideLayout" Target="../slideLayouts/slideLayout5.xml"/><Relationship Id="rId10"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7680960" cy="1097280"/>
          </a:xfrm>
          <a:prstGeom prst="rect">
            <a:avLst/>
          </a:prstGeom>
          <a:noFill/>
          <a:ln/>
        </p:spPr>
        <p:txBody>
          <a:bodyPr wrap="square" lIns="0" tIns="0" rIns="0" bIns="0" rtlCol="0" anchor="b"/>
          <a:lstStyle/>
          <a:p>
            <a:pPr algn="l" indent="0" marL="0">
              <a:buNone/>
            </a:pPr>
            <a:r>
              <a:rPr lang="en-US" sz="5400" b="1" dirty="0">
                <a:solidFill>
                  <a:schemeClr val="bg1"/>
                </a:solidFill>
              </a:rPr>
              <a:t>Beneath the Mesa</a:t>
            </a:r>
            <a:endParaRPr lang="en-US" sz="5400" dirty="0"/>
          </a:p>
        </p:txBody>
      </p:sp>
      <p:sp>
        <p:nvSpPr>
          <p:cNvPr id="3" name="Text 0"/>
          <p:cNvSpPr/>
          <p:nvPr>
            <p:ph idx="101" type="body" hasCustomPrompt="1"/>
          </p:nvPr>
        </p:nvSpPr>
        <p:spPr>
          <a:xfrm>
            <a:off x="731520" y="2148840"/>
            <a:ext cx="6949440" cy="914400"/>
          </a:xfrm>
          <a:prstGeom prst="rect">
            <a:avLst/>
          </a:prstGeom>
          <a:noFill/>
          <a:ln/>
        </p:spPr>
        <p:txBody>
          <a:bodyPr wrap="square" lIns="0" tIns="0" rIns="0" bIns="0" rtlCol="0" anchor="t"/>
          <a:lstStyle/>
          <a:p>
            <a:pPr indent="0" marL="0">
              <a:buNone/>
            </a:pPr>
            <a:r>
              <a:rPr lang="en-US" sz="2000" dirty="0">
                <a:solidFill>
                  <a:schemeClr val="bg2"/>
                </a:solidFill>
              </a:rPr>
              <a:t>Assessing Aquifer, Well, and Acequia Water Resources Across Sandoval County, New Mexico</a:t>
            </a:r>
            <a:endParaRPr lang="en-US" sz="2000" dirty="0"/>
          </a:p>
        </p:txBody>
      </p:sp>
      <p:sp>
        <p:nvSpPr>
          <p:cNvPr id="4" name="Text 0"/>
          <p:cNvSpPr/>
          <p:nvPr>
            <p:ph idx="102" type="body" hasCustomPrompt="1"/>
          </p:nvPr>
        </p:nvSpPr>
        <p:spPr>
          <a:xfrm>
            <a:off x="731520" y="3291840"/>
            <a:ext cx="6949440" cy="685800"/>
          </a:xfrm>
          <a:prstGeom prst="rect">
            <a:avLst/>
          </a:prstGeom>
          <a:noFill/>
          <a:ln/>
        </p:spPr>
        <p:txBody>
          <a:bodyPr wrap="square" lIns="0" tIns="0" rIns="0" bIns="0" rtlCol="0" anchor="t"/>
          <a:lstStyle/>
          <a:p>
            <a:pPr indent="0" marL="0">
              <a:buNone/>
            </a:pPr>
            <a:r>
              <a:rPr lang="en-US" sz="1600" b="1" dirty="0">
                <a:solidFill>
                  <a:schemeClr val="accent4"/>
                </a:solidFill>
              </a:rPr>
              <a:t>Petar Djordjevic (PM)  ·  Meckrem Yousef  ·  James Wanueka</a:t>
            </a:r>
            <a:endParaRPr lang="en-US" sz="1600" dirty="0"/>
          </a:p>
          <a:p>
            <a:pPr indent="0" marL="0">
              <a:buNone/>
            </a:pPr>
            <a:r>
              <a:rPr lang="en-US" sz="1600" b="1" dirty="0">
                <a:solidFill>
                  <a:schemeClr val="accent4"/>
                </a:solidFill>
              </a:rPr>
              <a:t>Dylan Gonzales  ·  Micah Watkins</a:t>
            </a:r>
            <a:endParaRPr lang="en-US" sz="1600" dirty="0"/>
          </a:p>
        </p:txBody>
      </p:sp>
      <p:sp>
        <p:nvSpPr>
          <p:cNvPr id="5" name="Text 0"/>
          <p:cNvSpPr/>
          <p:nvPr>
            <p:ph idx="103" type="body" hasCustomPrompt="1"/>
          </p:nvPr>
        </p:nvSpPr>
        <p:spPr>
          <a:xfrm>
            <a:off x="731520" y="402336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ENG 220  ·  Team 23  ·  Instructor: Ramiro Jordan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Background</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Where Sandoval County's water comes from: wells, rivers, and acequias</a:t>
            </a:r>
            <a:endParaRPr lang="en-US" sz="1800" dirty="0"/>
          </a:p>
          <a:p>
            <a:pPr marL="342900" indent="-342900">
              <a:spcAft>
                <a:spcPts val="1400"/>
              </a:spcAft>
              <a:buSzPct val="100000"/>
              <a:buChar char="•"/>
            </a:pPr>
            <a:r>
              <a:rPr lang="en-US" sz="1800" dirty="0">
                <a:solidFill>
                  <a:schemeClr val="tx1"/>
                </a:solidFill>
              </a:rPr>
              <a:t>Why the county spans several aquifer systems</a:t>
            </a:r>
            <a:endParaRPr lang="en-US" sz="1800" dirty="0"/>
          </a:p>
          <a:p>
            <a:pPr marL="342900" indent="-342900">
              <a:spcAft>
                <a:spcPts val="1400"/>
              </a:spcAft>
              <a:buSzPct val="100000"/>
              <a:buChar char="•"/>
            </a:pPr>
            <a:r>
              <a:rPr lang="en-US" sz="1800" dirty="0">
                <a:solidFill>
                  <a:schemeClr val="tx1"/>
                </a:solidFill>
              </a:rPr>
              <a:t>The concern: declining groundwater near Cuba</a:t>
            </a:r>
            <a:endParaRPr lang="en-US" sz="1800" dirty="0"/>
          </a:p>
          <a:p>
            <a:pPr marL="342900" indent="-342900">
              <a:spcAft>
                <a:spcPts val="1400"/>
              </a:spcAft>
              <a:buSzPct val="100000"/>
              <a:buChar char="•"/>
            </a:pPr>
            <a:r>
              <a:rPr lang="en-US" sz="1800" dirty="0">
                <a:solidFill>
                  <a:schemeClr val="tx1"/>
                </a:solidFill>
              </a:rPr>
              <a:t>What this project set out to check</a:t>
            </a:r>
            <a:endParaRPr lang="en-US" sz="1800" dirty="0"/>
          </a:p>
        </p:txBody>
      </p:sp>
      <p:sp>
        <p:nvSpPr>
          <p:cNvPr id="4" name="Drop zone (delete after adding your image)"/>
          <p:cNvSpPr/>
          <p:nvPr/>
        </p:nvSpPr>
        <p:spPr>
          <a:xfrm>
            <a:off x="6035040" y="1508760"/>
            <a:ext cx="5605272" cy="2697480"/>
          </a:xfrm>
          <a:prstGeom prst="roundRect">
            <a:avLst>
              <a:gd name="adj" fmla="val 4068"/>
            </a:avLst>
          </a:prstGeom>
          <a:solidFill>
            <a:schemeClr val="bg2"/>
          </a:solidFill>
          <a:ln w="19050">
            <a:solidFill>
              <a:schemeClr val="accent3"/>
            </a:solidFill>
            <a:prstDash val="dash"/>
          </a:ln>
        </p:spPr>
      </p:sp>
      <p:sp>
        <p:nvSpPr>
          <p:cNvPr id="5" name="Drop zone circle"/>
          <p:cNvSpPr/>
          <p:nvPr/>
        </p:nvSpPr>
        <p:spPr>
          <a:xfrm>
            <a:off x="8471916" y="2034540"/>
            <a:ext cx="731520" cy="731520"/>
          </a:xfrm>
          <a:prstGeom prst="ellipse">
            <a:avLst/>
          </a:prstGeom>
          <a:solidFill>
            <a:schemeClr val="bg1"/>
          </a:solidFill>
          <a:ln/>
        </p:spPr>
      </p:sp>
      <p:pic>
        <p:nvPicPr>
          <p:cNvPr id="6" name="Drop zone icon" descr="preencoded.png">    </p:cNvPr>
          <p:cNvPicPr>
            <a:picLocks noChangeAspect="1"/>
          </p:cNvPicPr>
          <p:nvPr/>
        </p:nvPicPr>
        <p:blipFill>
          <a:blip r:embed="rId1"/>
          <a:stretch>
            <a:fillRect/>
          </a:stretch>
        </p:blipFill>
        <p:spPr>
          <a:xfrm>
            <a:off x="8654796" y="2217420"/>
            <a:ext cx="365760" cy="365760"/>
          </a:xfrm>
          <a:prstGeom prst="rect">
            <a:avLst/>
          </a:prstGeom>
        </p:spPr>
      </p:pic>
      <p:sp>
        <p:nvSpPr>
          <p:cNvPr id="7" name="Drop zone label"/>
          <p:cNvSpPr txBox="1"/>
          <p:nvPr/>
        </p:nvSpPr>
        <p:spPr>
          <a:xfrm>
            <a:off x="6400800" y="2903220"/>
            <a:ext cx="487375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Map of the study area</a:t>
            </a:r>
            <a:endParaRPr lang="en-US" sz="1800" dirty="0"/>
          </a:p>
          <a:p>
            <a:pPr algn="ctr" indent="0" marL="0">
              <a:spcAft>
                <a:spcPts val="400"/>
              </a:spcAft>
              <a:buNone/>
            </a:pPr>
            <a:r>
              <a:rPr lang="en-US" sz="1400" dirty="0">
                <a:solidFill>
                  <a:schemeClr val="accent6"/>
                </a:solidFill>
              </a:rPr>
              <a:t>Sandoval County with Cuba marked</a:t>
            </a:r>
            <a:endParaRPr lang="en-US" sz="1800" dirty="0"/>
          </a:p>
        </p:txBody>
      </p:sp>
      <p:sp>
        <p:nvSpPr>
          <p:cNvPr id="8" name="Caption"/>
          <p:cNvSpPr txBox="1"/>
          <p:nvPr/>
        </p:nvSpPr>
        <p:spPr>
          <a:xfrm>
            <a:off x="6035040" y="4343400"/>
            <a:ext cx="356616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Research questions</a:t>
            </a:r>
            <a:endParaRPr lang="en-US" sz="3600" dirty="0"/>
          </a:p>
        </p:txBody>
      </p:sp>
      <p:sp>
        <p:nvSpPr>
          <p:cNvPr id="3" name="Main question card"/>
          <p:cNvSpPr/>
          <p:nvPr/>
        </p:nvSpPr>
        <p:spPr>
          <a:xfrm>
            <a:off x="548640" y="1508760"/>
            <a:ext cx="3429000" cy="4343400"/>
          </a:xfrm>
          <a:prstGeom prst="roundRect">
            <a:avLst>
              <a:gd name="adj" fmla="val 3200"/>
            </a:avLst>
          </a:prstGeom>
          <a:solidFill>
            <a:schemeClr val="accent1"/>
          </a:solidFill>
          <a:ln/>
        </p:spPr>
      </p:sp>
      <p:sp>
        <p:nvSpPr>
          <p:cNvPr id="4" name="Main question circle"/>
          <p:cNvSpPr/>
          <p:nvPr/>
        </p:nvSpPr>
        <p:spPr>
          <a:xfrm>
            <a:off x="868680" y="1828800"/>
            <a:ext cx="731520" cy="731520"/>
          </a:xfrm>
          <a:prstGeom prst="ellipse">
            <a:avLst/>
          </a:prstGeom>
          <a:solidFill>
            <a:schemeClr val="bg1"/>
          </a:solidFill>
          <a:ln/>
        </p:spPr>
      </p:sp>
      <p:pic>
        <p:nvPicPr>
          <p:cNvPr id="5" name="Main question icon" descr="preencoded.png">    </p:cNvPr>
          <p:cNvPicPr>
            <a:picLocks noChangeAspect="1"/>
          </p:cNvPicPr>
          <p:nvPr/>
        </p:nvPicPr>
        <p:blipFill>
          <a:blip r:embed="rId1"/>
          <a:stretch>
            <a:fillRect/>
          </a:stretch>
        </p:blipFill>
        <p:spPr>
          <a:xfrm>
            <a:off x="1051560" y="2011680"/>
            <a:ext cx="365760" cy="365760"/>
          </a:xfrm>
          <a:prstGeom prst="rect">
            <a:avLst/>
          </a:prstGeom>
        </p:spPr>
      </p:pic>
      <p:sp>
        <p:nvSpPr>
          <p:cNvPr id="6" name="Text 3"/>
          <p:cNvSpPr txBox="1"/>
          <p:nvPr/>
        </p:nvSpPr>
        <p:spPr>
          <a:xfrm>
            <a:off x="868680" y="2834640"/>
            <a:ext cx="2788920" cy="320040"/>
          </a:xfrm>
          <a:prstGeom prst="rect">
            <a:avLst/>
          </a:prstGeom>
          <a:noFill/>
          <a:ln/>
        </p:spPr>
        <p:txBody>
          <a:bodyPr wrap="square" lIns="0" tIns="0" rIns="0" bIns="0" rtlCol="0" anchor="t"/>
          <a:lstStyle/>
          <a:p>
            <a:pPr indent="0" marL="0">
              <a:buNone/>
            </a:pPr>
            <a:r>
              <a:rPr lang="en-US" sz="1400" b="1" spc="200" kern="0" dirty="0">
                <a:solidFill>
                  <a:schemeClr val="bg2"/>
                </a:solidFill>
              </a:rPr>
              <a:t>MAIN QUESTION</a:t>
            </a:r>
            <a:endParaRPr lang="en-US" sz="1400" dirty="0"/>
          </a:p>
        </p:txBody>
      </p:sp>
      <p:sp>
        <p:nvSpPr>
          <p:cNvPr id="7" name="Text 4"/>
          <p:cNvSpPr txBox="1"/>
          <p:nvPr/>
        </p:nvSpPr>
        <p:spPr>
          <a:xfrm>
            <a:off x="868680" y="3200400"/>
            <a:ext cx="2788920" cy="22860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Write the project's main question in one sentence</a:t>
            </a:r>
            <a:endParaRPr lang="en-US" sz="2200" dirty="0"/>
          </a:p>
        </p:txBody>
      </p:sp>
      <p:sp>
        <p:nvSpPr>
          <p:cNvPr id="8" name="Question 1 card"/>
          <p:cNvSpPr/>
          <p:nvPr/>
        </p:nvSpPr>
        <p:spPr>
          <a:xfrm>
            <a:off x="4343400" y="1508760"/>
            <a:ext cx="7296912" cy="868680"/>
          </a:xfrm>
          <a:prstGeom prst="roundRect">
            <a:avLst>
              <a:gd name="adj" fmla="val 10526"/>
            </a:avLst>
          </a:prstGeom>
          <a:solidFill>
            <a:schemeClr val="bg2"/>
          </a:solidFill>
          <a:ln/>
        </p:spPr>
      </p:sp>
      <p:sp>
        <p:nvSpPr>
          <p:cNvPr id="9" name="Shape 6"/>
          <p:cNvSpPr/>
          <p:nvPr/>
        </p:nvSpPr>
        <p:spPr>
          <a:xfrm>
            <a:off x="4572000" y="1668780"/>
            <a:ext cx="548640" cy="548640"/>
          </a:xfrm>
          <a:prstGeom prst="ellipse">
            <a:avLst/>
          </a:prstGeom>
          <a:solidFill>
            <a:schemeClr val="accent1"/>
          </a:solidFill>
          <a:ln/>
        </p:spPr>
      </p:sp>
      <p:sp>
        <p:nvSpPr>
          <p:cNvPr id="10" name="Text 7"/>
          <p:cNvSpPr txBox="1"/>
          <p:nvPr/>
        </p:nvSpPr>
        <p:spPr>
          <a:xfrm>
            <a:off x="4572000" y="16687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11" name="Text 8"/>
          <p:cNvSpPr txBox="1"/>
          <p:nvPr/>
        </p:nvSpPr>
        <p:spPr>
          <a:xfrm>
            <a:off x="5349240" y="160020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Groundwater levels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12" name="Question 2 card"/>
          <p:cNvSpPr/>
          <p:nvPr/>
        </p:nvSpPr>
        <p:spPr>
          <a:xfrm>
            <a:off x="4343400" y="2560320"/>
            <a:ext cx="7296912" cy="868680"/>
          </a:xfrm>
          <a:prstGeom prst="roundRect">
            <a:avLst>
              <a:gd name="adj" fmla="val 10526"/>
            </a:avLst>
          </a:prstGeom>
          <a:solidFill>
            <a:schemeClr val="bg2"/>
          </a:solidFill>
          <a:ln/>
        </p:spPr>
      </p:sp>
      <p:sp>
        <p:nvSpPr>
          <p:cNvPr id="13" name="Shape 10"/>
          <p:cNvSpPr/>
          <p:nvPr/>
        </p:nvSpPr>
        <p:spPr>
          <a:xfrm>
            <a:off x="4572000" y="2720340"/>
            <a:ext cx="548640" cy="548640"/>
          </a:xfrm>
          <a:prstGeom prst="ellipse">
            <a:avLst/>
          </a:prstGeom>
          <a:solidFill>
            <a:schemeClr val="accent1"/>
          </a:solidFill>
          <a:ln/>
        </p:spPr>
      </p:sp>
      <p:sp>
        <p:nvSpPr>
          <p:cNvPr id="14" name="Text 11"/>
          <p:cNvSpPr txBox="1"/>
          <p:nvPr/>
        </p:nvSpPr>
        <p:spPr>
          <a:xfrm>
            <a:off x="4572000" y="27203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5" name="Text 12"/>
          <p:cNvSpPr txBox="1"/>
          <p:nvPr/>
        </p:nvSpPr>
        <p:spPr>
          <a:xfrm>
            <a:off x="5349240" y="265176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Cuba's aquifers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16" name="Question 3 card"/>
          <p:cNvSpPr/>
          <p:nvPr/>
        </p:nvSpPr>
        <p:spPr>
          <a:xfrm>
            <a:off x="4343400" y="3611880"/>
            <a:ext cx="7296912" cy="868680"/>
          </a:xfrm>
          <a:prstGeom prst="roundRect">
            <a:avLst>
              <a:gd name="adj" fmla="val 10526"/>
            </a:avLst>
          </a:prstGeom>
          <a:solidFill>
            <a:schemeClr val="bg2"/>
          </a:solidFill>
          <a:ln/>
        </p:spPr>
      </p:sp>
      <p:sp>
        <p:nvSpPr>
          <p:cNvPr id="17" name="Shape 14"/>
          <p:cNvSpPr/>
          <p:nvPr/>
        </p:nvSpPr>
        <p:spPr>
          <a:xfrm>
            <a:off x="4572000" y="3771900"/>
            <a:ext cx="548640" cy="548640"/>
          </a:xfrm>
          <a:prstGeom prst="ellipse">
            <a:avLst/>
          </a:prstGeom>
          <a:solidFill>
            <a:schemeClr val="accent1"/>
          </a:solidFill>
          <a:ln/>
        </p:spPr>
      </p:sp>
      <p:sp>
        <p:nvSpPr>
          <p:cNvPr id="18" name="Text 15"/>
          <p:cNvSpPr txBox="1"/>
          <p:nvPr/>
        </p:nvSpPr>
        <p:spPr>
          <a:xfrm>
            <a:off x="4572000" y="37719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5349240" y="3703320"/>
            <a:ext cx="6062472"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Water quality and acequias</a:t>
            </a:r>
            <a:endParaRPr lang="en-US" sz="1800" dirty="0"/>
          </a:p>
          <a:p>
            <a:pPr indent="0" marL="0">
              <a:buNone/>
            </a:pPr>
            <a:r>
              <a:rPr lang="en-US" sz="1400" dirty="0">
                <a:solidFill>
                  <a:schemeClr val="tx2"/>
                </a:solidFill>
              </a:rPr>
              <a:t>Write the question in one sentence, using the wording from the proposal.</a:t>
            </a:r>
            <a:endParaRPr lang="en-US" sz="18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a:t>
            </a:r>
            <a:endParaRPr lang="en-US" sz="3600" dirty="0"/>
          </a:p>
        </p:txBody>
      </p:sp>
      <p:sp>
        <p:nvSpPr>
          <p:cNvPr id="3" name="Groundwater levels card"/>
          <p:cNvSpPr/>
          <p:nvPr/>
        </p:nvSpPr>
        <p:spPr>
          <a:xfrm>
            <a:off x="548640" y="1508760"/>
            <a:ext cx="2560320" cy="2834640"/>
          </a:xfrm>
          <a:prstGeom prst="roundRect">
            <a:avLst>
              <a:gd name="adj" fmla="val 4286"/>
            </a:avLst>
          </a:prstGeom>
          <a:solidFill>
            <a:schemeClr val="bg2"/>
          </a:solidFill>
          <a:ln/>
        </p:spPr>
      </p:sp>
      <p:sp>
        <p:nvSpPr>
          <p:cNvPr id="4" name="Groundwater levels circle"/>
          <p:cNvSpPr/>
          <p:nvPr/>
        </p:nvSpPr>
        <p:spPr>
          <a:xfrm>
            <a:off x="822960" y="1783080"/>
            <a:ext cx="731520" cy="731520"/>
          </a:xfrm>
          <a:prstGeom prst="ellipse">
            <a:avLst/>
          </a:prstGeom>
          <a:solidFill>
            <a:schemeClr val="accent1"/>
          </a:solidFill>
          <a:ln/>
        </p:spPr>
      </p:sp>
      <p:pic>
        <p:nvPicPr>
          <p:cNvPr id="5" name="Groundwater levels icon" descr="preencoded.png">    </p:cNvPr>
          <p:cNvPicPr>
            <a:picLocks noChangeAspect="1"/>
          </p:cNvPicPr>
          <p:nvPr/>
        </p:nvPicPr>
        <p:blipFill>
          <a:blip r:embed="rId1"/>
          <a:stretch>
            <a:fillRect/>
          </a:stretch>
        </p:blipFill>
        <p:spPr>
          <a:xfrm>
            <a:off x="1005840" y="1965960"/>
            <a:ext cx="365760" cy="365760"/>
          </a:xfrm>
          <a:prstGeom prst="rect">
            <a:avLst/>
          </a:prstGeom>
        </p:spPr>
      </p:pic>
      <p:sp>
        <p:nvSpPr>
          <p:cNvPr id="6" name="Text 3"/>
          <p:cNvSpPr txBox="1"/>
          <p:nvPr/>
        </p:nvSpPr>
        <p:spPr>
          <a:xfrm>
            <a:off x="82296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Groundwater levels</a:t>
            </a:r>
            <a:endParaRPr lang="en-US" sz="2000" dirty="0"/>
          </a:p>
        </p:txBody>
      </p:sp>
      <p:sp>
        <p:nvSpPr>
          <p:cNvPr id="7" name="Text 4"/>
          <p:cNvSpPr txBox="1"/>
          <p:nvPr/>
        </p:nvSpPr>
        <p:spPr>
          <a:xfrm>
            <a:off x="82296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8" name="Aquifer tests card"/>
          <p:cNvSpPr/>
          <p:nvPr/>
        </p:nvSpPr>
        <p:spPr>
          <a:xfrm>
            <a:off x="3383280" y="1508760"/>
            <a:ext cx="2560320" cy="2834640"/>
          </a:xfrm>
          <a:prstGeom prst="roundRect">
            <a:avLst>
              <a:gd name="adj" fmla="val 4286"/>
            </a:avLst>
          </a:prstGeom>
          <a:solidFill>
            <a:schemeClr val="bg2"/>
          </a:solidFill>
          <a:ln/>
        </p:spPr>
      </p:sp>
      <p:sp>
        <p:nvSpPr>
          <p:cNvPr id="9" name="Aquifer tests circle"/>
          <p:cNvSpPr/>
          <p:nvPr/>
        </p:nvSpPr>
        <p:spPr>
          <a:xfrm>
            <a:off x="3657600" y="1783080"/>
            <a:ext cx="731520" cy="731520"/>
          </a:xfrm>
          <a:prstGeom prst="ellipse">
            <a:avLst/>
          </a:prstGeom>
          <a:solidFill>
            <a:schemeClr val="accent1"/>
          </a:solidFill>
          <a:ln/>
        </p:spPr>
      </p:sp>
      <p:pic>
        <p:nvPicPr>
          <p:cNvPr id="10" name="Aquifer tests icon" descr="preencoded.png">    </p:cNvPr>
          <p:cNvPicPr>
            <a:picLocks noChangeAspect="1"/>
          </p:cNvPicPr>
          <p:nvPr/>
        </p:nvPicPr>
        <p:blipFill>
          <a:blip r:embed="rId2"/>
          <a:stretch>
            <a:fillRect/>
          </a:stretch>
        </p:blipFill>
        <p:spPr>
          <a:xfrm>
            <a:off x="3840480" y="1965960"/>
            <a:ext cx="365760" cy="365760"/>
          </a:xfrm>
          <a:prstGeom prst="rect">
            <a:avLst/>
          </a:prstGeom>
        </p:spPr>
      </p:pic>
      <p:sp>
        <p:nvSpPr>
          <p:cNvPr id="11" name="Text 7"/>
          <p:cNvSpPr txBox="1"/>
          <p:nvPr/>
        </p:nvSpPr>
        <p:spPr>
          <a:xfrm>
            <a:off x="365760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Aquifer tests</a:t>
            </a:r>
            <a:endParaRPr lang="en-US" sz="2000" dirty="0"/>
          </a:p>
        </p:txBody>
      </p:sp>
      <p:sp>
        <p:nvSpPr>
          <p:cNvPr id="12" name="Text 8"/>
          <p:cNvSpPr txBox="1"/>
          <p:nvPr/>
        </p:nvSpPr>
        <p:spPr>
          <a:xfrm>
            <a:off x="365760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13" name="Water quality card"/>
          <p:cNvSpPr/>
          <p:nvPr/>
        </p:nvSpPr>
        <p:spPr>
          <a:xfrm>
            <a:off x="6217920" y="1508760"/>
            <a:ext cx="2560320" cy="2834640"/>
          </a:xfrm>
          <a:prstGeom prst="roundRect">
            <a:avLst>
              <a:gd name="adj" fmla="val 4286"/>
            </a:avLst>
          </a:prstGeom>
          <a:solidFill>
            <a:schemeClr val="bg2"/>
          </a:solidFill>
          <a:ln/>
        </p:spPr>
      </p:sp>
      <p:sp>
        <p:nvSpPr>
          <p:cNvPr id="14" name="Water quality circle"/>
          <p:cNvSpPr/>
          <p:nvPr/>
        </p:nvSpPr>
        <p:spPr>
          <a:xfrm>
            <a:off x="6492240" y="1783080"/>
            <a:ext cx="731520" cy="731520"/>
          </a:xfrm>
          <a:prstGeom prst="ellipse">
            <a:avLst/>
          </a:prstGeom>
          <a:solidFill>
            <a:schemeClr val="accent1"/>
          </a:solidFill>
          <a:ln/>
        </p:spPr>
      </p:sp>
      <p:pic>
        <p:nvPicPr>
          <p:cNvPr id="15" name="Water quality icon" descr="preencoded.png">    </p:cNvPr>
          <p:cNvPicPr>
            <a:picLocks noChangeAspect="1"/>
          </p:cNvPicPr>
          <p:nvPr/>
        </p:nvPicPr>
        <p:blipFill>
          <a:blip r:embed="rId3"/>
          <a:stretch>
            <a:fillRect/>
          </a:stretch>
        </p:blipFill>
        <p:spPr>
          <a:xfrm>
            <a:off x="6675120" y="1965960"/>
            <a:ext cx="365760" cy="365760"/>
          </a:xfrm>
          <a:prstGeom prst="rect">
            <a:avLst/>
          </a:prstGeom>
        </p:spPr>
      </p:pic>
      <p:sp>
        <p:nvSpPr>
          <p:cNvPr id="16" name="Text 11"/>
          <p:cNvSpPr txBox="1"/>
          <p:nvPr/>
        </p:nvSpPr>
        <p:spPr>
          <a:xfrm>
            <a:off x="649224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Water quality</a:t>
            </a:r>
            <a:endParaRPr lang="en-US" sz="2000" dirty="0"/>
          </a:p>
        </p:txBody>
      </p:sp>
      <p:sp>
        <p:nvSpPr>
          <p:cNvPr id="17" name="Text 12"/>
          <p:cNvSpPr txBox="1"/>
          <p:nvPr/>
        </p:nvSpPr>
        <p:spPr>
          <a:xfrm>
            <a:off x="649224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18" name="Acequias card"/>
          <p:cNvSpPr/>
          <p:nvPr/>
        </p:nvSpPr>
        <p:spPr>
          <a:xfrm>
            <a:off x="9052560" y="1508760"/>
            <a:ext cx="2560320" cy="2834640"/>
          </a:xfrm>
          <a:prstGeom prst="roundRect">
            <a:avLst>
              <a:gd name="adj" fmla="val 4286"/>
            </a:avLst>
          </a:prstGeom>
          <a:solidFill>
            <a:schemeClr val="bg2"/>
          </a:solidFill>
          <a:ln/>
        </p:spPr>
      </p:sp>
      <p:sp>
        <p:nvSpPr>
          <p:cNvPr id="19" name="Acequias circle"/>
          <p:cNvSpPr/>
          <p:nvPr/>
        </p:nvSpPr>
        <p:spPr>
          <a:xfrm>
            <a:off x="9326880" y="1783080"/>
            <a:ext cx="731520" cy="731520"/>
          </a:xfrm>
          <a:prstGeom prst="ellipse">
            <a:avLst/>
          </a:prstGeom>
          <a:solidFill>
            <a:schemeClr val="accent1"/>
          </a:solidFill>
          <a:ln/>
        </p:spPr>
      </p:sp>
      <p:pic>
        <p:nvPicPr>
          <p:cNvPr id="20" name="Acequias icon" descr="preencoded.png">    </p:cNvPr>
          <p:cNvPicPr>
            <a:picLocks noChangeAspect="1"/>
          </p:cNvPicPr>
          <p:nvPr/>
        </p:nvPicPr>
        <p:blipFill>
          <a:blip r:embed="rId4"/>
          <a:stretch>
            <a:fillRect/>
          </a:stretch>
        </p:blipFill>
        <p:spPr>
          <a:xfrm>
            <a:off x="9509760" y="1965960"/>
            <a:ext cx="365760" cy="365760"/>
          </a:xfrm>
          <a:prstGeom prst="rect">
            <a:avLst/>
          </a:prstGeom>
        </p:spPr>
      </p:pic>
      <p:sp>
        <p:nvSpPr>
          <p:cNvPr id="21" name="Text 15"/>
          <p:cNvSpPr txBox="1"/>
          <p:nvPr/>
        </p:nvSpPr>
        <p:spPr>
          <a:xfrm>
            <a:off x="9326880" y="2697480"/>
            <a:ext cx="2011680" cy="6858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Acequias</a:t>
            </a:r>
            <a:endParaRPr lang="en-US" sz="2000" dirty="0"/>
          </a:p>
        </p:txBody>
      </p:sp>
      <p:sp>
        <p:nvSpPr>
          <p:cNvPr id="22" name="Text 16"/>
          <p:cNvSpPr txBox="1"/>
          <p:nvPr/>
        </p:nvSpPr>
        <p:spPr>
          <a:xfrm>
            <a:off x="9326880" y="3383280"/>
            <a:ext cx="2011680" cy="822960"/>
          </a:xfrm>
          <a:prstGeom prst="rect">
            <a:avLst/>
          </a:prstGeom>
          <a:noFill/>
          <a:ln/>
        </p:spPr>
        <p:txBody>
          <a:bodyPr wrap="square" lIns="0" tIns="0" rIns="0" bIns="0" rtlCol="0" anchor="t"/>
          <a:lstStyle/>
          <a:p>
            <a:pPr indent="0" marL="0">
              <a:buNone/>
            </a:pPr>
            <a:r>
              <a:rPr lang="en-US" sz="1400" dirty="0">
                <a:solidFill>
                  <a:schemeClr val="tx2"/>
                </a:solidFill>
              </a:rPr>
              <a:t>Source, years covered, and number of sites</a:t>
            </a:r>
            <a:endParaRPr lang="en-US" sz="1400" dirty="0"/>
          </a:p>
        </p:txBody>
      </p:sp>
      <p:sp>
        <p:nvSpPr>
          <p:cNvPr id="23" name="Caption"/>
          <p:cNvSpPr txBox="1"/>
          <p:nvPr/>
        </p:nvSpPr>
        <p:spPr>
          <a:xfrm>
            <a:off x="548640" y="4572000"/>
            <a:ext cx="8961120" cy="320040"/>
          </a:xfrm>
          <a:prstGeom prst="rect">
            <a:avLst/>
          </a:prstGeom>
          <a:noFill/>
          <a:ln/>
        </p:spPr>
        <p:txBody>
          <a:bodyPr wrap="square" lIns="0" tIns="0" rIns="0" bIns="0" rtlCol="0" anchor="t"/>
          <a:lstStyle/>
          <a:p>
            <a:pPr indent="0" marL="0">
              <a:buNone/>
            </a:pPr>
            <a:r>
              <a:rPr lang="en-US" sz="1200" i="1" dirty="0">
                <a:solidFill>
                  <a:schemeClr val="accent6"/>
                </a:solidFill>
              </a:rPr>
              <a:t>Full source links are on the last slide and in the project documentation.</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Methods</a:t>
            </a:r>
            <a:endParaRPr lang="en-US" sz="3600" dirty="0"/>
          </a:p>
        </p:txBody>
      </p:sp>
      <p:sp>
        <p:nvSpPr>
          <p:cNvPr id="3" name="Collect circle"/>
          <p:cNvSpPr/>
          <p:nvPr/>
        </p:nvSpPr>
        <p:spPr>
          <a:xfrm>
            <a:off x="548640" y="1645920"/>
            <a:ext cx="914400" cy="914400"/>
          </a:xfrm>
          <a:prstGeom prst="ellipse">
            <a:avLst/>
          </a:prstGeom>
          <a:solidFill>
            <a:schemeClr val="accent1"/>
          </a:solidFill>
          <a:ln/>
        </p:spPr>
      </p:sp>
      <p:pic>
        <p:nvPicPr>
          <p:cNvPr id="4" name="Collect icon" descr="preencoded.png">    </p:cNvPr>
          <p:cNvPicPr>
            <a:picLocks noChangeAspect="1"/>
          </p:cNvPicPr>
          <p:nvPr/>
        </p:nvPicPr>
        <p:blipFill>
          <a:blip r:embed="rId1"/>
          <a:stretch>
            <a:fillRect/>
          </a:stretch>
        </p:blipFill>
        <p:spPr>
          <a:xfrm>
            <a:off x="777240" y="1874520"/>
            <a:ext cx="457200" cy="457200"/>
          </a:xfrm>
          <a:prstGeom prst="rect">
            <a:avLst/>
          </a:prstGeom>
        </p:spPr>
      </p:pic>
      <p:pic>
        <p:nvPicPr>
          <p:cNvPr id="5" name="Arrow" descr="preencoded.png">    </p:cNvPr>
          <p:cNvPicPr>
            <a:picLocks noChangeAspect="1"/>
          </p:cNvPicPr>
          <p:nvPr/>
        </p:nvPicPr>
        <p:blipFill>
          <a:blip r:embed="rId2"/>
          <a:stretch>
            <a:fillRect/>
          </a:stretch>
        </p:blipFill>
        <p:spPr>
          <a:xfrm>
            <a:off x="2015109" y="1956816"/>
            <a:ext cx="292608" cy="292608"/>
          </a:xfrm>
          <a:prstGeom prst="rect">
            <a:avLst/>
          </a:prstGeom>
        </p:spPr>
      </p:pic>
      <p:sp>
        <p:nvSpPr>
          <p:cNvPr id="6" name="Text 2"/>
          <p:cNvSpPr txBox="1"/>
          <p:nvPr/>
        </p:nvSpPr>
        <p:spPr>
          <a:xfrm>
            <a:off x="548640"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Collect</a:t>
            </a:r>
            <a:endParaRPr lang="en-US" sz="2200" dirty="0"/>
          </a:p>
        </p:txBody>
      </p:sp>
      <p:sp>
        <p:nvSpPr>
          <p:cNvPr id="7" name="Text 3"/>
          <p:cNvSpPr txBox="1"/>
          <p:nvPr/>
        </p:nvSpPr>
        <p:spPr>
          <a:xfrm>
            <a:off x="548640"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Dylan Gonzales</a:t>
            </a:r>
            <a:endParaRPr lang="en-US" sz="1400" dirty="0"/>
          </a:p>
        </p:txBody>
      </p:sp>
      <p:sp>
        <p:nvSpPr>
          <p:cNvPr id="8" name="Text 4"/>
          <p:cNvSpPr txBox="1"/>
          <p:nvPr/>
        </p:nvSpPr>
        <p:spPr>
          <a:xfrm>
            <a:off x="548640"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9" name="Clean circle"/>
          <p:cNvSpPr/>
          <p:nvPr/>
        </p:nvSpPr>
        <p:spPr>
          <a:xfrm>
            <a:off x="2859786" y="1645920"/>
            <a:ext cx="914400" cy="914400"/>
          </a:xfrm>
          <a:prstGeom prst="ellipse">
            <a:avLst/>
          </a:prstGeom>
          <a:solidFill>
            <a:schemeClr val="accent1"/>
          </a:solidFill>
          <a:ln/>
        </p:spPr>
      </p:sp>
      <p:pic>
        <p:nvPicPr>
          <p:cNvPr id="10" name="Clean icon" descr="preencoded.png">    </p:cNvPr>
          <p:cNvPicPr>
            <a:picLocks noChangeAspect="1"/>
          </p:cNvPicPr>
          <p:nvPr/>
        </p:nvPicPr>
        <p:blipFill>
          <a:blip r:embed="rId3"/>
          <a:stretch>
            <a:fillRect/>
          </a:stretch>
        </p:blipFill>
        <p:spPr>
          <a:xfrm>
            <a:off x="3088386" y="1874520"/>
            <a:ext cx="457200" cy="457200"/>
          </a:xfrm>
          <a:prstGeom prst="rect">
            <a:avLst/>
          </a:prstGeom>
        </p:spPr>
      </p:pic>
      <p:pic>
        <p:nvPicPr>
          <p:cNvPr id="11" name="Arrow" descr="preencoded.png">    </p:cNvPr>
          <p:cNvPicPr>
            <a:picLocks noChangeAspect="1"/>
          </p:cNvPicPr>
          <p:nvPr/>
        </p:nvPicPr>
        <p:blipFill>
          <a:blip r:embed="rId4"/>
          <a:stretch>
            <a:fillRect/>
          </a:stretch>
        </p:blipFill>
        <p:spPr>
          <a:xfrm>
            <a:off x="4326255" y="1956816"/>
            <a:ext cx="292608" cy="292608"/>
          </a:xfrm>
          <a:prstGeom prst="rect">
            <a:avLst/>
          </a:prstGeom>
        </p:spPr>
      </p:pic>
      <p:sp>
        <p:nvSpPr>
          <p:cNvPr id="12" name="Text 6"/>
          <p:cNvSpPr txBox="1"/>
          <p:nvPr/>
        </p:nvSpPr>
        <p:spPr>
          <a:xfrm>
            <a:off x="2859786"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Clean</a:t>
            </a:r>
            <a:endParaRPr lang="en-US" sz="2200" dirty="0"/>
          </a:p>
        </p:txBody>
      </p:sp>
      <p:sp>
        <p:nvSpPr>
          <p:cNvPr id="13" name="Text 7"/>
          <p:cNvSpPr txBox="1"/>
          <p:nvPr/>
        </p:nvSpPr>
        <p:spPr>
          <a:xfrm>
            <a:off x="2859786"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James Wanueka</a:t>
            </a:r>
            <a:endParaRPr lang="en-US" sz="1400" dirty="0"/>
          </a:p>
        </p:txBody>
      </p:sp>
      <p:sp>
        <p:nvSpPr>
          <p:cNvPr id="14" name="Text 8"/>
          <p:cNvSpPr txBox="1"/>
          <p:nvPr/>
        </p:nvSpPr>
        <p:spPr>
          <a:xfrm>
            <a:off x="2859786"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15" name="Analyze circle"/>
          <p:cNvSpPr/>
          <p:nvPr/>
        </p:nvSpPr>
        <p:spPr>
          <a:xfrm>
            <a:off x="5170932" y="1645920"/>
            <a:ext cx="914400" cy="914400"/>
          </a:xfrm>
          <a:prstGeom prst="ellipse">
            <a:avLst/>
          </a:prstGeom>
          <a:solidFill>
            <a:schemeClr val="accent1"/>
          </a:solidFill>
          <a:ln/>
        </p:spPr>
      </p:sp>
      <p:pic>
        <p:nvPicPr>
          <p:cNvPr id="16" name="Analyze icon" descr="preencoded.png">    </p:cNvPr>
          <p:cNvPicPr>
            <a:picLocks noChangeAspect="1"/>
          </p:cNvPicPr>
          <p:nvPr/>
        </p:nvPicPr>
        <p:blipFill>
          <a:blip r:embed="rId5"/>
          <a:stretch>
            <a:fillRect/>
          </a:stretch>
        </p:blipFill>
        <p:spPr>
          <a:xfrm>
            <a:off x="5399532" y="1874520"/>
            <a:ext cx="457200" cy="457200"/>
          </a:xfrm>
          <a:prstGeom prst="rect">
            <a:avLst/>
          </a:prstGeom>
        </p:spPr>
      </p:pic>
      <p:pic>
        <p:nvPicPr>
          <p:cNvPr id="17" name="Arrow" descr="preencoded.png">    </p:cNvPr>
          <p:cNvPicPr>
            <a:picLocks noChangeAspect="1"/>
          </p:cNvPicPr>
          <p:nvPr/>
        </p:nvPicPr>
        <p:blipFill>
          <a:blip r:embed="rId6"/>
          <a:stretch>
            <a:fillRect/>
          </a:stretch>
        </p:blipFill>
        <p:spPr>
          <a:xfrm>
            <a:off x="6637401" y="1956816"/>
            <a:ext cx="292608" cy="292608"/>
          </a:xfrm>
          <a:prstGeom prst="rect">
            <a:avLst/>
          </a:prstGeom>
        </p:spPr>
      </p:pic>
      <p:sp>
        <p:nvSpPr>
          <p:cNvPr id="18" name="Text 10"/>
          <p:cNvSpPr txBox="1"/>
          <p:nvPr/>
        </p:nvSpPr>
        <p:spPr>
          <a:xfrm>
            <a:off x="5170932"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Analyze</a:t>
            </a:r>
            <a:endParaRPr lang="en-US" sz="2200" dirty="0"/>
          </a:p>
        </p:txBody>
      </p:sp>
      <p:sp>
        <p:nvSpPr>
          <p:cNvPr id="19" name="Text 11"/>
          <p:cNvSpPr txBox="1"/>
          <p:nvPr/>
        </p:nvSpPr>
        <p:spPr>
          <a:xfrm>
            <a:off x="5170932"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Micah Watkins</a:t>
            </a:r>
            <a:endParaRPr lang="en-US" sz="1400" dirty="0"/>
          </a:p>
        </p:txBody>
      </p:sp>
      <p:sp>
        <p:nvSpPr>
          <p:cNvPr id="20" name="Text 12"/>
          <p:cNvSpPr txBox="1"/>
          <p:nvPr/>
        </p:nvSpPr>
        <p:spPr>
          <a:xfrm>
            <a:off x="5170932"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21" name="Present circle"/>
          <p:cNvSpPr/>
          <p:nvPr/>
        </p:nvSpPr>
        <p:spPr>
          <a:xfrm>
            <a:off x="7482078" y="1645920"/>
            <a:ext cx="914400" cy="914400"/>
          </a:xfrm>
          <a:prstGeom prst="ellipse">
            <a:avLst/>
          </a:prstGeom>
          <a:solidFill>
            <a:schemeClr val="accent1"/>
          </a:solidFill>
          <a:ln/>
        </p:spPr>
      </p:sp>
      <p:pic>
        <p:nvPicPr>
          <p:cNvPr id="22" name="Present icon" descr="preencoded.png">    </p:cNvPr>
          <p:cNvPicPr>
            <a:picLocks noChangeAspect="1"/>
          </p:cNvPicPr>
          <p:nvPr/>
        </p:nvPicPr>
        <p:blipFill>
          <a:blip r:embed="rId7"/>
          <a:stretch>
            <a:fillRect/>
          </a:stretch>
        </p:blipFill>
        <p:spPr>
          <a:xfrm>
            <a:off x="7710678" y="1874520"/>
            <a:ext cx="457200" cy="457200"/>
          </a:xfrm>
          <a:prstGeom prst="rect">
            <a:avLst/>
          </a:prstGeom>
        </p:spPr>
      </p:pic>
      <p:pic>
        <p:nvPicPr>
          <p:cNvPr id="23" name="Arrow" descr="preencoded.png">    </p:cNvPr>
          <p:cNvPicPr>
            <a:picLocks noChangeAspect="1"/>
          </p:cNvPicPr>
          <p:nvPr/>
        </p:nvPicPr>
        <p:blipFill>
          <a:blip r:embed="rId8"/>
          <a:stretch>
            <a:fillRect/>
          </a:stretch>
        </p:blipFill>
        <p:spPr>
          <a:xfrm>
            <a:off x="8948547" y="1956816"/>
            <a:ext cx="292608" cy="292608"/>
          </a:xfrm>
          <a:prstGeom prst="rect">
            <a:avLst/>
          </a:prstGeom>
        </p:spPr>
      </p:pic>
      <p:sp>
        <p:nvSpPr>
          <p:cNvPr id="24" name="Text 14"/>
          <p:cNvSpPr txBox="1"/>
          <p:nvPr/>
        </p:nvSpPr>
        <p:spPr>
          <a:xfrm>
            <a:off x="7482078"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Present</a:t>
            </a:r>
            <a:endParaRPr lang="en-US" sz="2200" dirty="0"/>
          </a:p>
        </p:txBody>
      </p:sp>
      <p:sp>
        <p:nvSpPr>
          <p:cNvPr id="25" name="Text 15"/>
          <p:cNvSpPr txBox="1"/>
          <p:nvPr/>
        </p:nvSpPr>
        <p:spPr>
          <a:xfrm>
            <a:off x="7482078"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Meckrem Yousef</a:t>
            </a:r>
            <a:endParaRPr lang="en-US" sz="1400" dirty="0"/>
          </a:p>
        </p:txBody>
      </p:sp>
      <p:sp>
        <p:nvSpPr>
          <p:cNvPr id="26" name="Text 16"/>
          <p:cNvSpPr txBox="1"/>
          <p:nvPr/>
        </p:nvSpPr>
        <p:spPr>
          <a:xfrm>
            <a:off x="7482078"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27" name="Report circle"/>
          <p:cNvSpPr/>
          <p:nvPr/>
        </p:nvSpPr>
        <p:spPr>
          <a:xfrm>
            <a:off x="9793224" y="1645920"/>
            <a:ext cx="914400" cy="914400"/>
          </a:xfrm>
          <a:prstGeom prst="ellipse">
            <a:avLst/>
          </a:prstGeom>
          <a:solidFill>
            <a:schemeClr val="accent1"/>
          </a:solidFill>
          <a:ln/>
        </p:spPr>
      </p:sp>
      <p:pic>
        <p:nvPicPr>
          <p:cNvPr id="28" name="Report icon" descr="preencoded.png">    </p:cNvPr>
          <p:cNvPicPr>
            <a:picLocks noChangeAspect="1"/>
          </p:cNvPicPr>
          <p:nvPr/>
        </p:nvPicPr>
        <p:blipFill>
          <a:blip r:embed="rId9"/>
          <a:stretch>
            <a:fillRect/>
          </a:stretch>
        </p:blipFill>
        <p:spPr>
          <a:xfrm>
            <a:off x="10021824" y="1874520"/>
            <a:ext cx="457200" cy="457200"/>
          </a:xfrm>
          <a:prstGeom prst="rect">
            <a:avLst/>
          </a:prstGeom>
        </p:spPr>
      </p:pic>
      <p:sp>
        <p:nvSpPr>
          <p:cNvPr id="29" name="Text 18"/>
          <p:cNvSpPr txBox="1"/>
          <p:nvPr/>
        </p:nvSpPr>
        <p:spPr>
          <a:xfrm>
            <a:off x="9793224" y="2788920"/>
            <a:ext cx="1847088"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Report</a:t>
            </a:r>
            <a:endParaRPr lang="en-US" sz="2200" dirty="0"/>
          </a:p>
        </p:txBody>
      </p:sp>
      <p:sp>
        <p:nvSpPr>
          <p:cNvPr id="30" name="Text 19"/>
          <p:cNvSpPr txBox="1"/>
          <p:nvPr/>
        </p:nvSpPr>
        <p:spPr>
          <a:xfrm>
            <a:off x="9793224" y="3218688"/>
            <a:ext cx="1847088" cy="292608"/>
          </a:xfrm>
          <a:prstGeom prst="rect">
            <a:avLst/>
          </a:prstGeom>
          <a:noFill/>
          <a:ln/>
        </p:spPr>
        <p:txBody>
          <a:bodyPr wrap="square" lIns="0" tIns="0" rIns="0" bIns="0" rtlCol="0" anchor="t"/>
          <a:lstStyle/>
          <a:p>
            <a:pPr indent="0" marL="0">
              <a:buNone/>
            </a:pPr>
            <a:r>
              <a:rPr lang="en-US" sz="1400" b="1" dirty="0">
                <a:solidFill>
                  <a:schemeClr val="accent1"/>
                </a:solidFill>
              </a:rPr>
              <a:t>Petar Djordjevic</a:t>
            </a:r>
            <a:endParaRPr lang="en-US" sz="1400" dirty="0"/>
          </a:p>
        </p:txBody>
      </p:sp>
      <p:sp>
        <p:nvSpPr>
          <p:cNvPr id="31" name="Text 20"/>
          <p:cNvSpPr txBox="1"/>
          <p:nvPr/>
        </p:nvSpPr>
        <p:spPr>
          <a:xfrm>
            <a:off x="9793224" y="3584448"/>
            <a:ext cx="1847088" cy="777240"/>
          </a:xfrm>
          <a:prstGeom prst="rect">
            <a:avLst/>
          </a:prstGeom>
          <a:noFill/>
          <a:ln/>
        </p:spPr>
        <p:txBody>
          <a:bodyPr wrap="square" lIns="0" tIns="0" rIns="0" bIns="0" rtlCol="0" anchor="t"/>
          <a:lstStyle/>
          <a:p>
            <a:pPr indent="0" marL="0">
              <a:buNone/>
            </a:pPr>
            <a:r>
              <a:rPr lang="en-US" sz="1400" dirty="0">
                <a:solidFill>
                  <a:schemeClr val="tx2"/>
                </a:solidFill>
              </a:rPr>
              <a:t>One or two lines on what this step did</a:t>
            </a:r>
            <a:endParaRPr lang="en-US" sz="1400" dirty="0"/>
          </a:p>
        </p:txBody>
      </p:sp>
      <p:sp>
        <p:nvSpPr>
          <p:cNvPr id="32" name="Text 21"/>
          <p:cNvSpPr txBox="1"/>
          <p:nvPr/>
        </p:nvSpPr>
        <p:spPr>
          <a:xfrm>
            <a:off x="548640" y="4983480"/>
            <a:ext cx="8961120" cy="365760"/>
          </a:xfrm>
          <a:prstGeom prst="rect">
            <a:avLst/>
          </a:prstGeom>
          <a:noFill/>
          <a:ln/>
        </p:spPr>
        <p:txBody>
          <a:bodyPr wrap="square" lIns="0" tIns="0" rIns="0" bIns="0" rtlCol="0" anchor="ctr"/>
          <a:lstStyle/>
          <a:p>
            <a:pPr indent="0" marL="0">
              <a:buNone/>
            </a:pPr>
            <a:r>
              <a:rPr lang="en-US" sz="1600" b="1" dirty="0">
                <a:solidFill>
                  <a:schemeClr val="tx1"/>
                </a:solidFill>
              </a:rPr>
              <a:t>Tools  </a:t>
            </a:r>
            <a:pPr indent="0" marL="0">
              <a:buNone/>
            </a:pPr>
            <a:r>
              <a:rPr lang="en-US" sz="1600" dirty="0">
                <a:solidFill>
                  <a:schemeClr val="tx2"/>
                </a:solidFill>
              </a:rPr>
              <a:t>Python  ·  pandas  ·  Plotly  ·  Streamlit  ·  GitHub</a:t>
            </a:r>
            <a:endParaRPr lang="en-US" sz="16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 collection</a:t>
            </a:r>
            <a:endParaRPr lang="en-US" sz="3600" dirty="0"/>
          </a:p>
        </p:txBody>
      </p:sp>
      <p:sp>
        <p:nvSpPr>
          <p:cNvPr id="3" name="Dylan Gonzales circle"/>
          <p:cNvSpPr/>
          <p:nvPr/>
        </p:nvSpPr>
        <p:spPr>
          <a:xfrm>
            <a:off x="548640" y="1508760"/>
            <a:ext cx="777240" cy="777240"/>
          </a:xfrm>
          <a:prstGeom prst="ellipse">
            <a:avLst/>
          </a:prstGeom>
          <a:solidFill>
            <a:schemeClr val="accent1"/>
          </a:solidFill>
          <a:ln/>
        </p:spPr>
      </p:sp>
      <p:pic>
        <p:nvPicPr>
          <p:cNvPr id="4" name="Dylan Gonzales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Dylan Gonzales</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Data acquisition and dataset justification</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data source page or the raw dataset</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Data cleaning</a:t>
            </a:r>
            <a:endParaRPr lang="en-US" sz="3600" dirty="0"/>
          </a:p>
        </p:txBody>
      </p:sp>
      <p:sp>
        <p:nvSpPr>
          <p:cNvPr id="3" name="James Wanueka circle"/>
          <p:cNvSpPr/>
          <p:nvPr/>
        </p:nvSpPr>
        <p:spPr>
          <a:xfrm>
            <a:off x="548640" y="1508760"/>
            <a:ext cx="777240" cy="777240"/>
          </a:xfrm>
          <a:prstGeom prst="ellipse">
            <a:avLst/>
          </a:prstGeom>
          <a:solidFill>
            <a:schemeClr val="accent1"/>
          </a:solidFill>
          <a:ln/>
        </p:spPr>
      </p:sp>
      <p:pic>
        <p:nvPicPr>
          <p:cNvPr id="4" name="James Wanueka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James Wanueka</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Data cleaning and preprocessing</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The cleaning script, or the data before and after</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Analysis and visualizations</a:t>
            </a:r>
            <a:endParaRPr lang="en-US" sz="3600" dirty="0"/>
          </a:p>
        </p:txBody>
      </p:sp>
      <p:sp>
        <p:nvSpPr>
          <p:cNvPr id="3" name="Micah Watkins circle"/>
          <p:cNvSpPr/>
          <p:nvPr/>
        </p:nvSpPr>
        <p:spPr>
          <a:xfrm>
            <a:off x="548640" y="1508760"/>
            <a:ext cx="777240" cy="777240"/>
          </a:xfrm>
          <a:prstGeom prst="ellipse">
            <a:avLst/>
          </a:prstGeom>
          <a:solidFill>
            <a:schemeClr val="accent1"/>
          </a:solidFill>
          <a:ln/>
        </p:spPr>
      </p:sp>
      <p:pic>
        <p:nvPicPr>
          <p:cNvPr id="4" name="Micah Watkins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Micah Watkins</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Analysis code and visualizations</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chart from the analysis</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Streamlit app</a:t>
            </a:r>
            <a:endParaRPr lang="en-US" sz="3600" dirty="0"/>
          </a:p>
        </p:txBody>
      </p:sp>
      <p:sp>
        <p:nvSpPr>
          <p:cNvPr id="3" name="Meckrem Yousef circle"/>
          <p:cNvSpPr/>
          <p:nvPr/>
        </p:nvSpPr>
        <p:spPr>
          <a:xfrm>
            <a:off x="548640" y="1508760"/>
            <a:ext cx="777240" cy="777240"/>
          </a:xfrm>
          <a:prstGeom prst="ellipse">
            <a:avLst/>
          </a:prstGeom>
          <a:solidFill>
            <a:schemeClr val="accent1"/>
          </a:solidFill>
          <a:ln/>
        </p:spPr>
      </p:sp>
      <p:pic>
        <p:nvPicPr>
          <p:cNvPr id="4" name="Meckrem Yousef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Meckrem Yousef</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GitHub workflow and the Streamlit app</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A page of the live app</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Report and documentation</a:t>
            </a:r>
            <a:endParaRPr lang="en-US" sz="3600" dirty="0"/>
          </a:p>
        </p:txBody>
      </p:sp>
      <p:sp>
        <p:nvSpPr>
          <p:cNvPr id="3" name="Petar Djordjevic circle"/>
          <p:cNvSpPr/>
          <p:nvPr/>
        </p:nvSpPr>
        <p:spPr>
          <a:xfrm>
            <a:off x="548640" y="1508760"/>
            <a:ext cx="777240" cy="777240"/>
          </a:xfrm>
          <a:prstGeom prst="ellipse">
            <a:avLst/>
          </a:prstGeom>
          <a:solidFill>
            <a:schemeClr val="accent1"/>
          </a:solidFill>
          <a:ln/>
        </p:spPr>
      </p:sp>
      <p:pic>
        <p:nvPicPr>
          <p:cNvPr id="4" name="Petar Djordjevic icon" descr="preencoded.png">    </p:cNvPr>
          <p:cNvPicPr>
            <a:picLocks noChangeAspect="1"/>
          </p:cNvPicPr>
          <p:nvPr/>
        </p:nvPicPr>
        <p:blipFill>
          <a:blip r:embed="rId1"/>
          <a:stretch>
            <a:fillRect/>
          </a:stretch>
        </p:blipFill>
        <p:spPr>
          <a:xfrm>
            <a:off x="742950" y="1703070"/>
            <a:ext cx="388620" cy="388620"/>
          </a:xfrm>
          <a:prstGeom prst="rect">
            <a:avLst/>
          </a:prstGeom>
        </p:spPr>
      </p:pic>
      <p:sp>
        <p:nvSpPr>
          <p:cNvPr id="5" name="Member name"/>
          <p:cNvSpPr txBox="1"/>
          <p:nvPr/>
        </p:nvSpPr>
        <p:spPr>
          <a:xfrm>
            <a:off x="1508760" y="1481328"/>
            <a:ext cx="4023360" cy="4572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Petar Djordjevic</a:t>
            </a:r>
            <a:endParaRPr lang="en-US" sz="2400" dirty="0"/>
          </a:p>
        </p:txBody>
      </p:sp>
      <p:sp>
        <p:nvSpPr>
          <p:cNvPr id="6" name="Member role"/>
          <p:cNvSpPr txBox="1"/>
          <p:nvPr/>
        </p:nvSpPr>
        <p:spPr>
          <a:xfrm>
            <a:off x="1508760" y="1938528"/>
            <a:ext cx="4023360" cy="457200"/>
          </a:xfrm>
          <a:prstGeom prst="rect">
            <a:avLst/>
          </a:prstGeom>
          <a:noFill/>
          <a:ln/>
        </p:spPr>
        <p:txBody>
          <a:bodyPr wrap="square" lIns="0" tIns="0" rIns="0" bIns="0" rtlCol="0" anchor="t"/>
          <a:lstStyle/>
          <a:p>
            <a:pPr indent="0" marL="0">
              <a:buNone/>
            </a:pPr>
            <a:r>
              <a:rPr lang="en-US" sz="1400" b="1" dirty="0">
                <a:solidFill>
                  <a:schemeClr val="accent1"/>
                </a:solidFill>
              </a:rPr>
              <a:t>Project manager: report, slides, and video</a:t>
            </a:r>
            <a:endParaRPr lang="en-US" sz="1400" dirty="0"/>
          </a:p>
        </p:txBody>
      </p:sp>
      <p:sp>
        <p:nvSpPr>
          <p:cNvPr id="7" name="What I did card"/>
          <p:cNvSpPr/>
          <p:nvPr/>
        </p:nvSpPr>
        <p:spPr>
          <a:xfrm>
            <a:off x="548640" y="2606040"/>
            <a:ext cx="4983480" cy="868680"/>
          </a:xfrm>
          <a:prstGeom prst="roundRect">
            <a:avLst>
              <a:gd name="adj" fmla="val 10526"/>
            </a:avLst>
          </a:prstGeom>
          <a:solidFill>
            <a:schemeClr val="bg2"/>
          </a:solidFill>
          <a:ln/>
        </p:spPr>
      </p:sp>
      <p:sp>
        <p:nvSpPr>
          <p:cNvPr id="8" name="Text 5"/>
          <p:cNvSpPr txBox="1"/>
          <p:nvPr/>
        </p:nvSpPr>
        <p:spPr>
          <a:xfrm>
            <a:off x="777240" y="267919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did</a:t>
            </a:r>
            <a:endParaRPr lang="en-US" sz="1600" dirty="0"/>
          </a:p>
          <a:p>
            <a:pPr indent="0" marL="0">
              <a:buNone/>
            </a:pPr>
            <a:r>
              <a:rPr lang="en-US" sz="1400" dirty="0">
                <a:solidFill>
                  <a:schemeClr val="tx2"/>
                </a:solidFill>
              </a:rPr>
              <a:t>The part of the project you were responsible for</a:t>
            </a:r>
            <a:endParaRPr lang="en-US" sz="1600" dirty="0"/>
          </a:p>
        </p:txBody>
      </p:sp>
      <p:sp>
        <p:nvSpPr>
          <p:cNvPr id="9" name="How I did it card"/>
          <p:cNvSpPr/>
          <p:nvPr/>
        </p:nvSpPr>
        <p:spPr>
          <a:xfrm>
            <a:off x="548640" y="3611880"/>
            <a:ext cx="4983480" cy="868680"/>
          </a:xfrm>
          <a:prstGeom prst="roundRect">
            <a:avLst>
              <a:gd name="adj" fmla="val 10526"/>
            </a:avLst>
          </a:prstGeom>
          <a:solidFill>
            <a:schemeClr val="bg2"/>
          </a:solidFill>
          <a:ln/>
        </p:spPr>
      </p:sp>
      <p:sp>
        <p:nvSpPr>
          <p:cNvPr id="10" name="Text 7"/>
          <p:cNvSpPr txBox="1"/>
          <p:nvPr/>
        </p:nvSpPr>
        <p:spPr>
          <a:xfrm>
            <a:off x="777240" y="368503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How I did it</a:t>
            </a:r>
            <a:endParaRPr lang="en-US" sz="1600" dirty="0"/>
          </a:p>
          <a:p>
            <a:pPr indent="0" marL="0">
              <a:buNone/>
            </a:pPr>
            <a:r>
              <a:rPr lang="en-US" sz="1400" dirty="0">
                <a:solidFill>
                  <a:schemeClr val="tx2"/>
                </a:solidFill>
              </a:rPr>
              <a:t>Tools, sources, and main steps</a:t>
            </a:r>
            <a:endParaRPr lang="en-US" sz="1600" dirty="0"/>
          </a:p>
        </p:txBody>
      </p:sp>
      <p:sp>
        <p:nvSpPr>
          <p:cNvPr id="11" name="What I learned card"/>
          <p:cNvSpPr/>
          <p:nvPr/>
        </p:nvSpPr>
        <p:spPr>
          <a:xfrm>
            <a:off x="548640" y="4617720"/>
            <a:ext cx="4983480" cy="868680"/>
          </a:xfrm>
          <a:prstGeom prst="roundRect">
            <a:avLst>
              <a:gd name="adj" fmla="val 10526"/>
            </a:avLst>
          </a:prstGeom>
          <a:solidFill>
            <a:schemeClr val="bg2"/>
          </a:solidFill>
          <a:ln/>
        </p:spPr>
      </p:sp>
      <p:sp>
        <p:nvSpPr>
          <p:cNvPr id="12" name="Text 9"/>
          <p:cNvSpPr txBox="1"/>
          <p:nvPr/>
        </p:nvSpPr>
        <p:spPr>
          <a:xfrm>
            <a:off x="777240" y="4690872"/>
            <a:ext cx="4572000" cy="722376"/>
          </a:xfrm>
          <a:prstGeom prst="rect">
            <a:avLst/>
          </a:prstGeom>
          <a:noFill/>
          <a:ln/>
        </p:spPr>
        <p:txBody>
          <a:bodyPr wrap="square" lIns="0" tIns="0" rIns="0" bIns="0" rtlCol="0" anchor="ctr"/>
          <a:lstStyle/>
          <a:p>
            <a:pPr indent="0" marL="0">
              <a:buNone/>
            </a:pPr>
            <a:r>
              <a:rPr lang="en-US" sz="1600" b="1" dirty="0">
                <a:solidFill>
                  <a:schemeClr val="tx1"/>
                </a:solidFill>
              </a:rPr>
              <a:t>What I learned</a:t>
            </a:r>
            <a:endParaRPr lang="en-US" sz="1600" dirty="0"/>
          </a:p>
          <a:p>
            <a:pPr indent="0" marL="0">
              <a:buNone/>
            </a:pPr>
            <a:r>
              <a:rPr lang="en-US" sz="1400" dirty="0">
                <a:solidFill>
                  <a:schemeClr val="tx2"/>
                </a:solidFill>
              </a:rPr>
              <a:t>A challenge you hit and how you handled it</a:t>
            </a:r>
            <a:endParaRPr lang="en-US" sz="1600" dirty="0"/>
          </a:p>
        </p:txBody>
      </p:sp>
      <p:sp>
        <p:nvSpPr>
          <p:cNvPr id="13" name="Drop zone (delete after adding your image)"/>
          <p:cNvSpPr/>
          <p:nvPr/>
        </p:nvSpPr>
        <p:spPr>
          <a:xfrm>
            <a:off x="5897880" y="1508760"/>
            <a:ext cx="5742432" cy="2697480"/>
          </a:xfrm>
          <a:prstGeom prst="roundRect">
            <a:avLst>
              <a:gd name="adj" fmla="val 4068"/>
            </a:avLst>
          </a:prstGeom>
          <a:solidFill>
            <a:schemeClr val="bg2"/>
          </a:solidFill>
          <a:ln w="19050">
            <a:solidFill>
              <a:schemeClr val="accent3"/>
            </a:solidFill>
            <a:prstDash val="dash"/>
          </a:ln>
        </p:spPr>
      </p:sp>
      <p:sp>
        <p:nvSpPr>
          <p:cNvPr id="14" name="Drop zone circle"/>
          <p:cNvSpPr/>
          <p:nvPr/>
        </p:nvSpPr>
        <p:spPr>
          <a:xfrm>
            <a:off x="8403336" y="2034540"/>
            <a:ext cx="731520" cy="731520"/>
          </a:xfrm>
          <a:prstGeom prst="ellipse">
            <a:avLst/>
          </a:prstGeom>
          <a:solidFill>
            <a:schemeClr val="bg1"/>
          </a:solidFill>
          <a:ln/>
        </p:spPr>
      </p:sp>
      <p:pic>
        <p:nvPicPr>
          <p:cNvPr id="15" name="Drop zone icon" descr="preencoded.png">    </p:cNvPr>
          <p:cNvPicPr>
            <a:picLocks noChangeAspect="1"/>
          </p:cNvPicPr>
          <p:nvPr/>
        </p:nvPicPr>
        <p:blipFill>
          <a:blip r:embed="rId2"/>
          <a:stretch>
            <a:fillRect/>
          </a:stretch>
        </p:blipFill>
        <p:spPr>
          <a:xfrm>
            <a:off x="8586216" y="2217420"/>
            <a:ext cx="365760" cy="365760"/>
          </a:xfrm>
          <a:prstGeom prst="rect">
            <a:avLst/>
          </a:prstGeom>
        </p:spPr>
      </p:pic>
      <p:sp>
        <p:nvSpPr>
          <p:cNvPr id="16" name="Drop zone label"/>
          <p:cNvSpPr txBox="1"/>
          <p:nvPr/>
        </p:nvSpPr>
        <p:spPr>
          <a:xfrm>
            <a:off x="6263640" y="2903220"/>
            <a:ext cx="501091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Screenshot of your work</a:t>
            </a:r>
            <a:endParaRPr lang="en-US" sz="1800" dirty="0"/>
          </a:p>
          <a:p>
            <a:pPr algn="ctr" indent="0" marL="0">
              <a:spcAft>
                <a:spcPts val="400"/>
              </a:spcAft>
              <a:buNone/>
            </a:pPr>
            <a:r>
              <a:rPr lang="en-US" sz="1400" dirty="0">
                <a:solidFill>
                  <a:schemeClr val="accent6"/>
                </a:solidFill>
              </a:rPr>
              <a:t>The documentation site or a page of the report</a:t>
            </a:r>
            <a:endParaRPr lang="en-US" sz="1800" dirty="0"/>
          </a:p>
        </p:txBody>
      </p:sp>
      <p:sp>
        <p:nvSpPr>
          <p:cNvPr id="17" name="Caption"/>
          <p:cNvSpPr txBox="1"/>
          <p:nvPr/>
        </p:nvSpPr>
        <p:spPr>
          <a:xfrm>
            <a:off x="5897880" y="4343400"/>
            <a:ext cx="365760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Results</a:t>
            </a:r>
            <a:endParaRPr lang="en-US" sz="3600" dirty="0"/>
          </a:p>
        </p:txBody>
      </p:sp>
      <p:sp>
        <p:nvSpPr>
          <p:cNvPr id="3" name="Drop zone (delete after adding your image)"/>
          <p:cNvSpPr/>
          <p:nvPr/>
        </p:nvSpPr>
        <p:spPr>
          <a:xfrm>
            <a:off x="548640" y="1508760"/>
            <a:ext cx="7269480" cy="3977640"/>
          </a:xfrm>
          <a:prstGeom prst="roundRect">
            <a:avLst>
              <a:gd name="adj" fmla="val 2759"/>
            </a:avLst>
          </a:prstGeom>
          <a:solidFill>
            <a:schemeClr val="bg2"/>
          </a:solidFill>
          <a:ln w="19050">
            <a:solidFill>
              <a:schemeClr val="accent3"/>
            </a:solidFill>
            <a:prstDash val="dash"/>
          </a:ln>
        </p:spPr>
      </p:sp>
      <p:sp>
        <p:nvSpPr>
          <p:cNvPr id="4" name="Drop zone circle"/>
          <p:cNvSpPr/>
          <p:nvPr/>
        </p:nvSpPr>
        <p:spPr>
          <a:xfrm>
            <a:off x="3817620" y="2674620"/>
            <a:ext cx="731520" cy="731520"/>
          </a:xfrm>
          <a:prstGeom prst="ellipse">
            <a:avLst/>
          </a:prstGeom>
          <a:solidFill>
            <a:schemeClr val="bg1"/>
          </a:solidFill>
          <a:ln/>
        </p:spPr>
      </p:sp>
      <p:pic>
        <p:nvPicPr>
          <p:cNvPr id="5" name="Drop zone icon" descr="preencoded.png">    </p:cNvPr>
          <p:cNvPicPr>
            <a:picLocks noChangeAspect="1"/>
          </p:cNvPicPr>
          <p:nvPr/>
        </p:nvPicPr>
        <p:blipFill>
          <a:blip r:embed="rId1"/>
          <a:stretch>
            <a:fillRect/>
          </a:stretch>
        </p:blipFill>
        <p:spPr>
          <a:xfrm>
            <a:off x="4000500" y="2857500"/>
            <a:ext cx="365760" cy="365760"/>
          </a:xfrm>
          <a:prstGeom prst="rect">
            <a:avLst/>
          </a:prstGeom>
        </p:spPr>
      </p:pic>
      <p:sp>
        <p:nvSpPr>
          <p:cNvPr id="6" name="Drop zone label"/>
          <p:cNvSpPr txBox="1"/>
          <p:nvPr/>
        </p:nvSpPr>
        <p:spPr>
          <a:xfrm>
            <a:off x="914400" y="3543300"/>
            <a:ext cx="6537960"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Chart, map, or app screenshot</a:t>
            </a:r>
            <a:endParaRPr lang="en-US" sz="1800" dirty="0"/>
          </a:p>
          <a:p>
            <a:pPr algn="ctr" indent="0" marL="0">
              <a:spcAft>
                <a:spcPts val="400"/>
              </a:spcAft>
              <a:buNone/>
            </a:pPr>
            <a:r>
              <a:rPr lang="en-US" sz="1400" dirty="0">
                <a:solidFill>
                  <a:schemeClr val="accent6"/>
                </a:solidFill>
              </a:rPr>
              <a:t>Copy this slide for each result</a:t>
            </a:r>
            <a:endParaRPr lang="en-US" sz="1800" dirty="0"/>
          </a:p>
        </p:txBody>
      </p:sp>
      <p:sp>
        <p:nvSpPr>
          <p:cNvPr id="7" name="Caption"/>
          <p:cNvSpPr txBox="1"/>
          <p:nvPr/>
        </p:nvSpPr>
        <p:spPr>
          <a:xfrm>
            <a:off x="548640" y="5577840"/>
            <a:ext cx="726948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8" name="Key number"/>
          <p:cNvSpPr txBox="1"/>
          <p:nvPr/>
        </p:nvSpPr>
        <p:spPr>
          <a:xfrm>
            <a:off x="8183880" y="1508760"/>
            <a:ext cx="3456432"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 ft</a:t>
            </a:r>
            <a:endParaRPr lang="en-US" sz="5400" dirty="0"/>
          </a:p>
        </p:txBody>
      </p:sp>
      <p:sp>
        <p:nvSpPr>
          <p:cNvPr id="9" name="Text 6"/>
          <p:cNvSpPr txBox="1"/>
          <p:nvPr/>
        </p:nvSpPr>
        <p:spPr>
          <a:xfrm>
            <a:off x="8183880" y="2423160"/>
            <a:ext cx="3456432" cy="365760"/>
          </a:xfrm>
          <a:prstGeom prst="rect">
            <a:avLst/>
          </a:prstGeom>
          <a:noFill/>
          <a:ln/>
        </p:spPr>
        <p:txBody>
          <a:bodyPr wrap="square" lIns="0" tIns="0" rIns="0" bIns="0" rtlCol="0" anchor="t"/>
          <a:lstStyle/>
          <a:p>
            <a:pPr indent="0" marL="0">
              <a:buNone/>
            </a:pPr>
            <a:r>
              <a:rPr lang="en-US" sz="1400" dirty="0">
                <a:solidFill>
                  <a:schemeClr val="accent6"/>
                </a:solidFill>
              </a:rPr>
              <a:t>Key number and what it measures</a:t>
            </a:r>
            <a:endParaRPr lang="en-US" sz="1400" dirty="0"/>
          </a:p>
        </p:txBody>
      </p:sp>
      <p:sp>
        <p:nvSpPr>
          <p:cNvPr id="10" name="Text 7"/>
          <p:cNvSpPr txBox="1"/>
          <p:nvPr/>
        </p:nvSpPr>
        <p:spPr>
          <a:xfrm>
            <a:off x="8183880" y="3017520"/>
            <a:ext cx="3456432" cy="13716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What this shows</a:t>
            </a:r>
            <a:endParaRPr lang="en-US" sz="2000" dirty="0"/>
          </a:p>
          <a:p>
            <a:pPr indent="0" marL="0">
              <a:spcAft>
                <a:spcPts val="800"/>
              </a:spcAft>
              <a:buNone/>
            </a:pPr>
            <a:r>
              <a:rPr lang="en-US" sz="1600" dirty="0">
                <a:solidFill>
                  <a:schemeClr val="tx2"/>
                </a:solidFill>
              </a:rPr>
              <a:t>Two or three sentences on the main pattern in the chart.</a:t>
            </a:r>
            <a:endParaRPr lang="en-US" sz="20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Findings</a:t>
            </a:r>
            <a:endParaRPr lang="en-US" sz="3600" dirty="0"/>
          </a:p>
        </p:txBody>
      </p:sp>
      <p:sp>
        <p:nvSpPr>
          <p:cNvPr id="3" name="What the data show card"/>
          <p:cNvSpPr/>
          <p:nvPr/>
        </p:nvSpPr>
        <p:spPr>
          <a:xfrm>
            <a:off x="548640" y="1508760"/>
            <a:ext cx="3529584" cy="2697480"/>
          </a:xfrm>
          <a:prstGeom prst="roundRect">
            <a:avLst>
              <a:gd name="adj" fmla="val 4068"/>
            </a:avLst>
          </a:prstGeom>
          <a:solidFill>
            <a:schemeClr val="bg2"/>
          </a:solidFill>
          <a:ln/>
        </p:spPr>
      </p:sp>
      <p:sp>
        <p:nvSpPr>
          <p:cNvPr id="4" name="What the data show circle"/>
          <p:cNvSpPr/>
          <p:nvPr/>
        </p:nvSpPr>
        <p:spPr>
          <a:xfrm>
            <a:off x="822960" y="1783080"/>
            <a:ext cx="685800" cy="685800"/>
          </a:xfrm>
          <a:prstGeom prst="ellipse">
            <a:avLst/>
          </a:prstGeom>
          <a:solidFill>
            <a:schemeClr val="accent1"/>
          </a:solidFill>
          <a:ln/>
        </p:spPr>
      </p:sp>
      <p:pic>
        <p:nvPicPr>
          <p:cNvPr id="5" name="What the data show icon" descr="preencoded.png">    </p:cNvPr>
          <p:cNvPicPr>
            <a:picLocks noChangeAspect="1"/>
          </p:cNvPicPr>
          <p:nvPr/>
        </p:nvPicPr>
        <p:blipFill>
          <a:blip r:embed="rId1"/>
          <a:stretch>
            <a:fillRect/>
          </a:stretch>
        </p:blipFill>
        <p:spPr>
          <a:xfrm>
            <a:off x="994410" y="1954530"/>
            <a:ext cx="342900" cy="342900"/>
          </a:xfrm>
          <a:prstGeom prst="rect">
            <a:avLst/>
          </a:prstGeom>
        </p:spPr>
      </p:pic>
      <p:sp>
        <p:nvSpPr>
          <p:cNvPr id="6" name="Text 3"/>
          <p:cNvSpPr txBox="1"/>
          <p:nvPr/>
        </p:nvSpPr>
        <p:spPr>
          <a:xfrm>
            <a:off x="822960"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the data show</a:t>
            </a:r>
            <a:endParaRPr lang="en-US" sz="2000" dirty="0"/>
          </a:p>
        </p:txBody>
      </p:sp>
      <p:sp>
        <p:nvSpPr>
          <p:cNvPr id="7" name="Text 4"/>
          <p:cNvSpPr txBox="1"/>
          <p:nvPr/>
        </p:nvSpPr>
        <p:spPr>
          <a:xfrm>
            <a:off x="822960"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Measured results, with numbers</a:t>
            </a:r>
            <a:endParaRPr lang="en-US" sz="1600" dirty="0"/>
          </a:p>
        </p:txBody>
      </p:sp>
      <p:sp>
        <p:nvSpPr>
          <p:cNvPr id="8" name="What they suggest card"/>
          <p:cNvSpPr/>
          <p:nvPr/>
        </p:nvSpPr>
        <p:spPr>
          <a:xfrm>
            <a:off x="4334256" y="1508760"/>
            <a:ext cx="3529584" cy="2697480"/>
          </a:xfrm>
          <a:prstGeom prst="roundRect">
            <a:avLst>
              <a:gd name="adj" fmla="val 4068"/>
            </a:avLst>
          </a:prstGeom>
          <a:solidFill>
            <a:schemeClr val="bg2"/>
          </a:solidFill>
          <a:ln/>
        </p:spPr>
      </p:sp>
      <p:sp>
        <p:nvSpPr>
          <p:cNvPr id="9" name="What they suggest circle"/>
          <p:cNvSpPr/>
          <p:nvPr/>
        </p:nvSpPr>
        <p:spPr>
          <a:xfrm>
            <a:off x="4608576" y="1783080"/>
            <a:ext cx="685800" cy="685800"/>
          </a:xfrm>
          <a:prstGeom prst="ellipse">
            <a:avLst/>
          </a:prstGeom>
          <a:solidFill>
            <a:schemeClr val="accent5"/>
          </a:solidFill>
          <a:ln/>
        </p:spPr>
      </p:sp>
      <p:pic>
        <p:nvPicPr>
          <p:cNvPr id="10" name="What they suggest icon" descr="preencoded.png">    </p:cNvPr>
          <p:cNvPicPr>
            <a:picLocks noChangeAspect="1"/>
          </p:cNvPicPr>
          <p:nvPr/>
        </p:nvPicPr>
        <p:blipFill>
          <a:blip r:embed="rId2"/>
          <a:stretch>
            <a:fillRect/>
          </a:stretch>
        </p:blipFill>
        <p:spPr>
          <a:xfrm>
            <a:off x="4780026" y="1954530"/>
            <a:ext cx="342900" cy="342900"/>
          </a:xfrm>
          <a:prstGeom prst="rect">
            <a:avLst/>
          </a:prstGeom>
        </p:spPr>
      </p:pic>
      <p:sp>
        <p:nvSpPr>
          <p:cNvPr id="11" name="Text 7"/>
          <p:cNvSpPr txBox="1"/>
          <p:nvPr/>
        </p:nvSpPr>
        <p:spPr>
          <a:xfrm>
            <a:off x="4608576"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they suggest</a:t>
            </a:r>
            <a:endParaRPr lang="en-US" sz="2000" dirty="0"/>
          </a:p>
        </p:txBody>
      </p:sp>
      <p:sp>
        <p:nvSpPr>
          <p:cNvPr id="12" name="Text 8"/>
          <p:cNvSpPr txBox="1"/>
          <p:nvPr/>
        </p:nvSpPr>
        <p:spPr>
          <a:xfrm>
            <a:off x="4608576"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Likely explanations, stated as possibilities</a:t>
            </a:r>
            <a:endParaRPr lang="en-US" sz="1600" dirty="0"/>
          </a:p>
        </p:txBody>
      </p:sp>
      <p:sp>
        <p:nvSpPr>
          <p:cNvPr id="13" name="Too limited to tell card"/>
          <p:cNvSpPr/>
          <p:nvPr/>
        </p:nvSpPr>
        <p:spPr>
          <a:xfrm>
            <a:off x="8119872" y="1508760"/>
            <a:ext cx="3529584" cy="2697480"/>
          </a:xfrm>
          <a:prstGeom prst="roundRect">
            <a:avLst>
              <a:gd name="adj" fmla="val 4068"/>
            </a:avLst>
          </a:prstGeom>
          <a:solidFill>
            <a:schemeClr val="bg2"/>
          </a:solidFill>
          <a:ln/>
        </p:spPr>
      </p:sp>
      <p:sp>
        <p:nvSpPr>
          <p:cNvPr id="14" name="Too limited to tell circle"/>
          <p:cNvSpPr/>
          <p:nvPr/>
        </p:nvSpPr>
        <p:spPr>
          <a:xfrm>
            <a:off x="8394192" y="1783080"/>
            <a:ext cx="685800" cy="685800"/>
          </a:xfrm>
          <a:prstGeom prst="ellipse">
            <a:avLst/>
          </a:prstGeom>
          <a:solidFill>
            <a:schemeClr val="accent2"/>
          </a:solidFill>
          <a:ln/>
        </p:spPr>
      </p:sp>
      <p:pic>
        <p:nvPicPr>
          <p:cNvPr id="15" name="Too limited to tell icon" descr="preencoded.png">    </p:cNvPr>
          <p:cNvPicPr>
            <a:picLocks noChangeAspect="1"/>
          </p:cNvPicPr>
          <p:nvPr/>
        </p:nvPicPr>
        <p:blipFill>
          <a:blip r:embed="rId3"/>
          <a:stretch>
            <a:fillRect/>
          </a:stretch>
        </p:blipFill>
        <p:spPr>
          <a:xfrm>
            <a:off x="8565642" y="1954530"/>
            <a:ext cx="342900" cy="342900"/>
          </a:xfrm>
          <a:prstGeom prst="rect">
            <a:avLst/>
          </a:prstGeom>
        </p:spPr>
      </p:pic>
      <p:sp>
        <p:nvSpPr>
          <p:cNvPr id="16" name="Text 11"/>
          <p:cNvSpPr txBox="1"/>
          <p:nvPr/>
        </p:nvSpPr>
        <p:spPr>
          <a:xfrm>
            <a:off x="8394192" y="2651760"/>
            <a:ext cx="2980944"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Too limited to tell</a:t>
            </a:r>
            <a:endParaRPr lang="en-US" sz="2000" dirty="0"/>
          </a:p>
        </p:txBody>
      </p:sp>
      <p:sp>
        <p:nvSpPr>
          <p:cNvPr id="17" name="Text 12"/>
          <p:cNvSpPr txBox="1"/>
          <p:nvPr/>
        </p:nvSpPr>
        <p:spPr>
          <a:xfrm>
            <a:off x="8394192" y="3154680"/>
            <a:ext cx="2980944" cy="868680"/>
          </a:xfrm>
          <a:prstGeom prst="rect">
            <a:avLst/>
          </a:prstGeom>
          <a:noFill/>
          <a:ln/>
        </p:spPr>
        <p:txBody>
          <a:bodyPr wrap="square" lIns="0" tIns="0" rIns="0" bIns="0" rtlCol="0" anchor="t"/>
          <a:lstStyle/>
          <a:p>
            <a:pPr marL="342900" indent="-342900">
              <a:buSzPct val="100000"/>
              <a:buChar char="•"/>
            </a:pPr>
            <a:r>
              <a:rPr lang="en-US" sz="1600" dirty="0">
                <a:solidFill>
                  <a:schemeClr val="tx2"/>
                </a:solidFill>
              </a:rPr>
              <a:t>Questions the data can't answer yet</a:t>
            </a:r>
            <a:endParaRPr lang="en-US" sz="1600" dirty="0"/>
          </a:p>
        </p:txBody>
      </p:sp>
      <p:sp>
        <p:nvSpPr>
          <p:cNvPr id="18" name="Bottom line card"/>
          <p:cNvSpPr/>
          <p:nvPr/>
        </p:nvSpPr>
        <p:spPr>
          <a:xfrm>
            <a:off x="548640" y="4480560"/>
            <a:ext cx="9006840" cy="1097280"/>
          </a:xfrm>
          <a:prstGeom prst="roundRect">
            <a:avLst>
              <a:gd name="adj" fmla="val 10000"/>
            </a:avLst>
          </a:prstGeom>
          <a:solidFill>
            <a:schemeClr val="accent1"/>
          </a:solidFill>
          <a:ln/>
        </p:spPr>
      </p:sp>
      <p:sp>
        <p:nvSpPr>
          <p:cNvPr id="19" name="Text 14"/>
          <p:cNvSpPr txBox="1"/>
          <p:nvPr/>
        </p:nvSpPr>
        <p:spPr>
          <a:xfrm>
            <a:off x="822960" y="4553712"/>
            <a:ext cx="8458200" cy="950976"/>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Bottom line</a:t>
            </a:r>
            <a:endParaRPr lang="en-US" sz="1800" dirty="0"/>
          </a:p>
          <a:p>
            <a:pPr indent="0" marL="0">
              <a:buNone/>
            </a:pPr>
            <a:r>
              <a:rPr lang="en-US" sz="1600" dirty="0">
                <a:solidFill>
                  <a:schemeClr val="bg2"/>
                </a:solidFill>
              </a:rPr>
              <a:t>One sentence that answers the main question</a:t>
            </a:r>
            <a:endParaRPr lang="en-US" sz="18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7315200" cy="822960"/>
          </a:xfrm>
          <a:prstGeom prst="rect">
            <a:avLst/>
          </a:prstGeom>
          <a:noFill/>
          <a:ln/>
        </p:spPr>
        <p:txBody>
          <a:bodyPr wrap="square" lIns="0" tIns="0" rIns="0" bIns="0" rtlCol="0" anchor="ctr"/>
          <a:lstStyle/>
          <a:p>
            <a:pPr algn="l" indent="0" marL="0">
              <a:buNone/>
            </a:pPr>
            <a:r>
              <a:rPr lang="en-US" sz="3600" b="1" dirty="0">
                <a:solidFill>
                  <a:schemeClr val="bg1"/>
                </a:solidFill>
              </a:rPr>
              <a:t>Limitations</a:t>
            </a:r>
            <a:endParaRPr lang="en-US" sz="3600" dirty="0"/>
          </a:p>
        </p:txBody>
      </p:sp>
      <p:sp>
        <p:nvSpPr>
          <p:cNvPr id="3" name="Text 0"/>
          <p:cNvSpPr/>
          <p:nvPr>
            <p:ph idx="101" type="body" hasCustomPrompt="1"/>
          </p:nvPr>
        </p:nvSpPr>
        <p:spPr>
          <a:xfrm>
            <a:off x="548640" y="1508760"/>
            <a:ext cx="5120640" cy="434340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Areas with few or no monitoring wells</a:t>
            </a:r>
            <a:endParaRPr lang="en-US" sz="1800" dirty="0"/>
          </a:p>
          <a:p>
            <a:pPr marL="342900" indent="-342900">
              <a:spcAft>
                <a:spcPts val="1400"/>
              </a:spcAft>
              <a:buSzPct val="100000"/>
              <a:buChar char="•"/>
            </a:pPr>
            <a:r>
              <a:rPr lang="en-US" sz="1800" dirty="0">
                <a:solidFill>
                  <a:schemeClr val="tx1"/>
                </a:solidFill>
              </a:rPr>
              <a:t>Short or irregular water-level records</a:t>
            </a:r>
            <a:endParaRPr lang="en-US" sz="1800" dirty="0"/>
          </a:p>
          <a:p>
            <a:pPr marL="342900" indent="-342900">
              <a:spcAft>
                <a:spcPts val="1400"/>
              </a:spcAft>
              <a:buSzPct val="100000"/>
              <a:buChar char="•"/>
            </a:pPr>
            <a:r>
              <a:rPr lang="en-US" sz="1800" dirty="0">
                <a:solidFill>
                  <a:schemeClr val="tx1"/>
                </a:solidFill>
              </a:rPr>
              <a:t>Data the project couldn't get</a:t>
            </a:r>
            <a:endParaRPr lang="en-US" sz="1800" dirty="0"/>
          </a:p>
          <a:p>
            <a:pPr marL="342900" indent="-342900">
              <a:spcAft>
                <a:spcPts val="1400"/>
              </a:spcAft>
              <a:buSzPct val="100000"/>
              <a:buChar char="•"/>
            </a:pPr>
            <a:r>
              <a:rPr lang="en-US" sz="1800" dirty="0">
                <a:solidFill>
                  <a:schemeClr val="tx1"/>
                </a:solidFill>
              </a:rPr>
              <a:t>What a stronger study would need</a:t>
            </a:r>
            <a:endParaRPr lang="en-US" sz="1800" dirty="0"/>
          </a:p>
        </p:txBody>
      </p:sp>
      <p:sp>
        <p:nvSpPr>
          <p:cNvPr id="4" name="Drop zone (delete after adding your image)"/>
          <p:cNvSpPr/>
          <p:nvPr/>
        </p:nvSpPr>
        <p:spPr>
          <a:xfrm>
            <a:off x="6035040" y="1508760"/>
            <a:ext cx="5605272" cy="2697480"/>
          </a:xfrm>
          <a:prstGeom prst="roundRect">
            <a:avLst>
              <a:gd name="adj" fmla="val 4068"/>
            </a:avLst>
          </a:prstGeom>
          <a:solidFill>
            <a:schemeClr val="bg2"/>
          </a:solidFill>
          <a:ln w="19050">
            <a:solidFill>
              <a:schemeClr val="accent3"/>
            </a:solidFill>
            <a:prstDash val="dash"/>
          </a:ln>
        </p:spPr>
      </p:sp>
      <p:sp>
        <p:nvSpPr>
          <p:cNvPr id="5" name="Drop zone circle"/>
          <p:cNvSpPr/>
          <p:nvPr/>
        </p:nvSpPr>
        <p:spPr>
          <a:xfrm>
            <a:off x="8471916" y="2034540"/>
            <a:ext cx="731520" cy="731520"/>
          </a:xfrm>
          <a:prstGeom prst="ellipse">
            <a:avLst/>
          </a:prstGeom>
          <a:solidFill>
            <a:schemeClr val="bg1"/>
          </a:solidFill>
          <a:ln/>
        </p:spPr>
      </p:sp>
      <p:pic>
        <p:nvPicPr>
          <p:cNvPr id="6" name="Drop zone icon" descr="preencoded.png">    </p:cNvPr>
          <p:cNvPicPr>
            <a:picLocks noChangeAspect="1"/>
          </p:cNvPicPr>
          <p:nvPr/>
        </p:nvPicPr>
        <p:blipFill>
          <a:blip r:embed="rId1"/>
          <a:stretch>
            <a:fillRect/>
          </a:stretch>
        </p:blipFill>
        <p:spPr>
          <a:xfrm>
            <a:off x="8654796" y="2217420"/>
            <a:ext cx="365760" cy="365760"/>
          </a:xfrm>
          <a:prstGeom prst="rect">
            <a:avLst/>
          </a:prstGeom>
        </p:spPr>
      </p:pic>
      <p:sp>
        <p:nvSpPr>
          <p:cNvPr id="7" name="Drop zone label"/>
          <p:cNvSpPr txBox="1"/>
          <p:nvPr/>
        </p:nvSpPr>
        <p:spPr>
          <a:xfrm>
            <a:off x="6400800" y="2903220"/>
            <a:ext cx="4873752" cy="777240"/>
          </a:xfrm>
          <a:prstGeom prst="rect">
            <a:avLst/>
          </a:prstGeom>
          <a:noFill/>
          <a:ln/>
        </p:spPr>
        <p:txBody>
          <a:bodyPr wrap="square" lIns="0" tIns="0" rIns="0" bIns="0" rtlCol="0" anchor="t"/>
          <a:lstStyle/>
          <a:p>
            <a:pPr algn="ctr" indent="0" marL="0">
              <a:spcAft>
                <a:spcPts val="400"/>
              </a:spcAft>
              <a:buNone/>
            </a:pPr>
            <a:r>
              <a:rPr lang="en-US" sz="1800" b="1" dirty="0">
                <a:solidFill>
                  <a:schemeClr val="tx1"/>
                </a:solidFill>
              </a:rPr>
              <a:t>Data coverage map</a:t>
            </a:r>
            <a:endParaRPr lang="en-US" sz="1800" dirty="0"/>
          </a:p>
          <a:p>
            <a:pPr algn="ctr" indent="0" marL="0">
              <a:spcAft>
                <a:spcPts val="400"/>
              </a:spcAft>
              <a:buNone/>
            </a:pPr>
            <a:r>
              <a:rPr lang="en-US" sz="1400" dirty="0">
                <a:solidFill>
                  <a:schemeClr val="accent6"/>
                </a:solidFill>
              </a:rPr>
              <a:t>Where monitoring is dense, sparse, or absent</a:t>
            </a:r>
            <a:endParaRPr lang="en-US" sz="1800" dirty="0"/>
          </a:p>
        </p:txBody>
      </p:sp>
      <p:sp>
        <p:nvSpPr>
          <p:cNvPr id="8" name="Caption"/>
          <p:cNvSpPr txBox="1"/>
          <p:nvPr/>
        </p:nvSpPr>
        <p:spPr>
          <a:xfrm>
            <a:off x="6035040" y="4343400"/>
            <a:ext cx="3566160" cy="320040"/>
          </a:xfrm>
          <a:prstGeom prst="rect">
            <a:avLst/>
          </a:prstGeom>
          <a:noFill/>
          <a:ln/>
        </p:spPr>
        <p:txBody>
          <a:bodyPr wrap="square" lIns="0" tIns="0" rIns="0" bIns="0" rtlCol="0" anchor="t"/>
          <a:lstStyle/>
          <a:p>
            <a:pPr indent="0" marL="0">
              <a:buNone/>
            </a:pPr>
            <a:r>
              <a:rPr lang="en-US" sz="1200" i="1" dirty="0">
                <a:solidFill>
                  <a:schemeClr val="accent6"/>
                </a:solidFill>
              </a:rPr>
              <a:t>Figure caption and source</a:t>
            </a:r>
            <a:endParaRPr lang="en-US" sz="1200" dirty="0"/>
          </a:p>
        </p:txBody>
      </p:sp>
      <p:sp>
        <p:nvSpPr>
          <p:cNvPr id="25" name="Slide Number Placeholder 0"/>
          <p:cNvSpPr>
            <a:spLocks noGrp="1"/>
          </p:cNvSpPr>
          <p:nvPr>
            <p:ph type="sldNum" sz="quarter" idx="4294967295"/>
          </p:nvPr>
        </p:nvSpPr>
        <p:spPr>
          <a:xfrm>
            <a:off x="548640" y="6400800"/>
            <a:ext cx="36576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bg1"/>
                </a:solidFill>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777240"/>
          </a:xfrm>
          <a:prstGeom prst="rect">
            <a:avLst/>
          </a:prstGeom>
          <a:noFill/>
          <a:ln/>
        </p:spPr>
        <p:txBody>
          <a:bodyPr wrap="square" lIns="0" tIns="0" rIns="0" bIns="0" rtlCol="0" anchor="ctr"/>
          <a:lstStyle/>
          <a:p>
            <a:pPr algn="l" indent="0" marL="0">
              <a:buNone/>
            </a:pPr>
            <a:r>
              <a:rPr lang="en-US" sz="3600" b="1" dirty="0">
                <a:solidFill>
                  <a:schemeClr val="bg1"/>
                </a:solidFill>
              </a:rPr>
              <a:t>Explore the data, code, and app</a:t>
            </a:r>
            <a:endParaRPr lang="en-US" sz="3600" dirty="0"/>
          </a:p>
        </p:txBody>
      </p:sp>
      <p:sp>
        <p:nvSpPr>
          <p:cNvPr id="3" name="GitHub repository card"/>
          <p:cNvSpPr/>
          <p:nvPr/>
        </p:nvSpPr>
        <p:spPr>
          <a:xfrm>
            <a:off x="731520" y="1417320"/>
            <a:ext cx="5852160" cy="566928"/>
          </a:xfrm>
          <a:prstGeom prst="roundRect">
            <a:avLst>
              <a:gd name="adj" fmla="val 16129"/>
            </a:avLst>
          </a:prstGeom>
          <a:solidFill>
            <a:schemeClr val="bg1"/>
          </a:solidFill>
          <a:ln/>
        </p:spPr>
      </p:sp>
      <p:sp>
        <p:nvSpPr>
          <p:cNvPr id="4" name="GitHub repository circle"/>
          <p:cNvSpPr/>
          <p:nvPr/>
        </p:nvSpPr>
        <p:spPr>
          <a:xfrm>
            <a:off x="859536" y="1499616"/>
            <a:ext cx="402336" cy="402336"/>
          </a:xfrm>
          <a:prstGeom prst="ellipse">
            <a:avLst/>
          </a:prstGeom>
          <a:solidFill>
            <a:schemeClr val="accent1"/>
          </a:solidFill>
          <a:ln/>
        </p:spPr>
      </p:sp>
      <p:pic>
        <p:nvPicPr>
          <p:cNvPr id="5" name="GitHub repository icon" descr="preencoded.png">    </p:cNvPr>
          <p:cNvPicPr>
            <a:picLocks noChangeAspect="1"/>
          </p:cNvPicPr>
          <p:nvPr/>
        </p:nvPicPr>
        <p:blipFill>
          <a:blip r:embed="rId1"/>
          <a:stretch>
            <a:fillRect/>
          </a:stretch>
        </p:blipFill>
        <p:spPr>
          <a:xfrm>
            <a:off x="960120" y="1600200"/>
            <a:ext cx="201168" cy="201168"/>
          </a:xfrm>
          <a:prstGeom prst="rect">
            <a:avLst/>
          </a:prstGeom>
        </p:spPr>
      </p:pic>
      <p:sp>
        <p:nvSpPr>
          <p:cNvPr id="6" name="Text 3"/>
          <p:cNvSpPr txBox="1"/>
          <p:nvPr/>
        </p:nvSpPr>
        <p:spPr>
          <a:xfrm>
            <a:off x="1444752" y="1463040"/>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GitHub repository</a:t>
            </a:r>
            <a:endParaRPr lang="en-US" sz="1400" dirty="0"/>
          </a:p>
          <a:p>
            <a:pPr indent="0" marL="0">
              <a:buNone/>
            </a:pPr>
            <a:r>
              <a:rPr lang="en-US" sz="1300" u="sng" dirty="0">
                <a:solidFill>
                  <a:srgbClr val="000000"/>
                </a:solidFill>
                <a:hlinkClick r:id="rId2" invalidUrl="" action="" tgtFrame="" tooltip="" history="1" highlightClick="0" endSnd="0">
                  <a:extLst>
                    <a:ext uri="{A12FA001-AC4F-418D-AE19-62706E023703}">
                      <ahyp:hlinkClr xmlns:ahyp="http://schemas.microsoft.com/office/drawing/2018/hyperlinkcolor" val="tx"/>
                    </a:ext>
                  </a:extLst>
                </a:hlinkClick>
              </a:rPr>
              <a:t>github.com/pdjordj11/eng_220_aquifer_project</a:t>
            </a:r>
            <a:endParaRPr lang="en-US" sz="1400" dirty="0"/>
          </a:p>
        </p:txBody>
      </p:sp>
      <p:sp>
        <p:nvSpPr>
          <p:cNvPr id="7" name="Streamlit app card"/>
          <p:cNvSpPr/>
          <p:nvPr/>
        </p:nvSpPr>
        <p:spPr>
          <a:xfrm>
            <a:off x="731520" y="2093976"/>
            <a:ext cx="5852160" cy="566928"/>
          </a:xfrm>
          <a:prstGeom prst="roundRect">
            <a:avLst>
              <a:gd name="adj" fmla="val 16129"/>
            </a:avLst>
          </a:prstGeom>
          <a:solidFill>
            <a:schemeClr val="bg1"/>
          </a:solidFill>
          <a:ln/>
        </p:spPr>
      </p:sp>
      <p:sp>
        <p:nvSpPr>
          <p:cNvPr id="8" name="Streamlit app circle"/>
          <p:cNvSpPr/>
          <p:nvPr/>
        </p:nvSpPr>
        <p:spPr>
          <a:xfrm>
            <a:off x="859536" y="2176272"/>
            <a:ext cx="402336" cy="402336"/>
          </a:xfrm>
          <a:prstGeom prst="ellipse">
            <a:avLst/>
          </a:prstGeom>
          <a:solidFill>
            <a:schemeClr val="accent1"/>
          </a:solidFill>
          <a:ln/>
        </p:spPr>
      </p:sp>
      <p:pic>
        <p:nvPicPr>
          <p:cNvPr id="9" name="Streamlit app icon" descr="preencoded.png">    </p:cNvPr>
          <p:cNvPicPr>
            <a:picLocks noChangeAspect="1"/>
          </p:cNvPicPr>
          <p:nvPr/>
        </p:nvPicPr>
        <p:blipFill>
          <a:blip r:embed="rId3"/>
          <a:stretch>
            <a:fillRect/>
          </a:stretch>
        </p:blipFill>
        <p:spPr>
          <a:xfrm>
            <a:off x="960120" y="2276856"/>
            <a:ext cx="201168" cy="201168"/>
          </a:xfrm>
          <a:prstGeom prst="rect">
            <a:avLst/>
          </a:prstGeom>
        </p:spPr>
      </p:pic>
      <p:sp>
        <p:nvSpPr>
          <p:cNvPr id="10" name="Text 6"/>
          <p:cNvSpPr txBox="1"/>
          <p:nvPr/>
        </p:nvSpPr>
        <p:spPr>
          <a:xfrm>
            <a:off x="1444752" y="2139696"/>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Streamlit app</a:t>
            </a:r>
            <a:endParaRPr lang="en-US" sz="1400" dirty="0"/>
          </a:p>
          <a:p>
            <a:pPr indent="0" marL="0">
              <a:buNone/>
            </a:pPr>
            <a:r>
              <a:rPr lang="en-US" sz="1300" u="sng" dirty="0">
                <a:solidFill>
                  <a:srgbClr val="000000"/>
                </a:solidFill>
                <a:hlinkClick r:id="rId4" invalidUrl="" action="" tgtFrame="" tooltip="" history="1" highlightClick="0" endSnd="0">
                  <a:extLst>
                    <a:ext uri="{A12FA001-AC4F-418D-AE19-62706E023703}">
                      <ahyp:hlinkClr xmlns:ahyp="http://schemas.microsoft.com/office/drawing/2018/hyperlinkcolor" val="tx"/>
                    </a:ext>
                  </a:extLst>
                </a:hlinkClick>
              </a:rPr>
              <a:t>eng220aquiferproject.streamlit.app</a:t>
            </a:r>
            <a:endParaRPr lang="en-US" sz="1400" dirty="0"/>
          </a:p>
        </p:txBody>
      </p:sp>
      <p:sp>
        <p:nvSpPr>
          <p:cNvPr id="11" name="Documentation card"/>
          <p:cNvSpPr/>
          <p:nvPr/>
        </p:nvSpPr>
        <p:spPr>
          <a:xfrm>
            <a:off x="731520" y="2770632"/>
            <a:ext cx="5852160" cy="566928"/>
          </a:xfrm>
          <a:prstGeom prst="roundRect">
            <a:avLst>
              <a:gd name="adj" fmla="val 16129"/>
            </a:avLst>
          </a:prstGeom>
          <a:solidFill>
            <a:schemeClr val="bg1"/>
          </a:solidFill>
          <a:ln/>
        </p:spPr>
      </p:sp>
      <p:sp>
        <p:nvSpPr>
          <p:cNvPr id="12" name="Documentation circle"/>
          <p:cNvSpPr/>
          <p:nvPr/>
        </p:nvSpPr>
        <p:spPr>
          <a:xfrm>
            <a:off x="859536" y="2852928"/>
            <a:ext cx="402336" cy="402336"/>
          </a:xfrm>
          <a:prstGeom prst="ellipse">
            <a:avLst/>
          </a:prstGeom>
          <a:solidFill>
            <a:schemeClr val="accent1"/>
          </a:solidFill>
          <a:ln/>
        </p:spPr>
      </p:sp>
      <p:pic>
        <p:nvPicPr>
          <p:cNvPr id="13" name="Documentation icon" descr="preencoded.png">    </p:cNvPr>
          <p:cNvPicPr>
            <a:picLocks noChangeAspect="1"/>
          </p:cNvPicPr>
          <p:nvPr/>
        </p:nvPicPr>
        <p:blipFill>
          <a:blip r:embed="rId5"/>
          <a:stretch>
            <a:fillRect/>
          </a:stretch>
        </p:blipFill>
        <p:spPr>
          <a:xfrm>
            <a:off x="960120" y="2953512"/>
            <a:ext cx="201168" cy="201168"/>
          </a:xfrm>
          <a:prstGeom prst="rect">
            <a:avLst/>
          </a:prstGeom>
        </p:spPr>
      </p:pic>
      <p:sp>
        <p:nvSpPr>
          <p:cNvPr id="14" name="Text 9"/>
          <p:cNvSpPr txBox="1"/>
          <p:nvPr/>
        </p:nvSpPr>
        <p:spPr>
          <a:xfrm>
            <a:off x="1444752" y="2816352"/>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Documentation</a:t>
            </a:r>
            <a:endParaRPr lang="en-US" sz="1400" dirty="0"/>
          </a:p>
          <a:p>
            <a:pPr indent="0" marL="0">
              <a:buNone/>
            </a:pPr>
            <a:r>
              <a:rPr lang="en-US" sz="1300" u="sng" dirty="0">
                <a:solidFill>
                  <a:srgbClr val="000000"/>
                </a:solidFill>
                <a:hlinkClick r:id="rId6" invalidUrl="" action="" tgtFrame="" tooltip="" history="1" highlightClick="0" endSnd="0">
                  <a:extLst>
                    <a:ext uri="{A12FA001-AC4F-418D-AE19-62706E023703}">
                      <ahyp:hlinkClr xmlns:ahyp="http://schemas.microsoft.com/office/drawing/2018/hyperlinkcolor" val="tx"/>
                    </a:ext>
                  </a:extLst>
                </a:hlinkClick>
              </a:rPr>
              <a:t>pdjordj11.github.io/eng_220_aquifer_project</a:t>
            </a:r>
            <a:endParaRPr lang="en-US" sz="1400" dirty="0"/>
          </a:p>
        </p:txBody>
      </p:sp>
      <p:sp>
        <p:nvSpPr>
          <p:cNvPr id="15" name="Datasets card"/>
          <p:cNvSpPr/>
          <p:nvPr/>
        </p:nvSpPr>
        <p:spPr>
          <a:xfrm>
            <a:off x="731520" y="3447288"/>
            <a:ext cx="5852160" cy="566928"/>
          </a:xfrm>
          <a:prstGeom prst="roundRect">
            <a:avLst>
              <a:gd name="adj" fmla="val 16129"/>
            </a:avLst>
          </a:prstGeom>
          <a:solidFill>
            <a:schemeClr val="bg1"/>
          </a:solidFill>
          <a:ln/>
        </p:spPr>
      </p:sp>
      <p:sp>
        <p:nvSpPr>
          <p:cNvPr id="16" name="Datasets circle"/>
          <p:cNvSpPr/>
          <p:nvPr/>
        </p:nvSpPr>
        <p:spPr>
          <a:xfrm>
            <a:off x="859536" y="3529584"/>
            <a:ext cx="402336" cy="402336"/>
          </a:xfrm>
          <a:prstGeom prst="ellipse">
            <a:avLst/>
          </a:prstGeom>
          <a:solidFill>
            <a:schemeClr val="accent1"/>
          </a:solidFill>
          <a:ln/>
        </p:spPr>
      </p:sp>
      <p:pic>
        <p:nvPicPr>
          <p:cNvPr id="17" name="Datasets icon" descr="preencoded.png">    </p:cNvPr>
          <p:cNvPicPr>
            <a:picLocks noChangeAspect="1"/>
          </p:cNvPicPr>
          <p:nvPr/>
        </p:nvPicPr>
        <p:blipFill>
          <a:blip r:embed="rId7"/>
          <a:stretch>
            <a:fillRect/>
          </a:stretch>
        </p:blipFill>
        <p:spPr>
          <a:xfrm>
            <a:off x="960120" y="3630168"/>
            <a:ext cx="201168" cy="201168"/>
          </a:xfrm>
          <a:prstGeom prst="rect">
            <a:avLst/>
          </a:prstGeom>
        </p:spPr>
      </p:pic>
      <p:sp>
        <p:nvSpPr>
          <p:cNvPr id="18" name="Text 12"/>
          <p:cNvSpPr txBox="1"/>
          <p:nvPr/>
        </p:nvSpPr>
        <p:spPr>
          <a:xfrm>
            <a:off x="1444752" y="3493008"/>
            <a:ext cx="4983480" cy="475488"/>
          </a:xfrm>
          <a:prstGeom prst="rect">
            <a:avLst/>
          </a:prstGeom>
          <a:noFill/>
          <a:ln/>
        </p:spPr>
        <p:txBody>
          <a:bodyPr wrap="square" lIns="0" tIns="0" rIns="0" bIns="0" rtlCol="0" anchor="ctr"/>
          <a:lstStyle/>
          <a:p>
            <a:pPr indent="0" marL="0">
              <a:buNone/>
            </a:pPr>
            <a:r>
              <a:rPr lang="en-US" sz="1400" b="1" dirty="0">
                <a:solidFill>
                  <a:schemeClr val="tx1"/>
                </a:solidFill>
              </a:rPr>
              <a:t>Datasets</a:t>
            </a:r>
            <a:endParaRPr lang="en-US" sz="1400" dirty="0"/>
          </a:p>
          <a:p>
            <a:pPr indent="0" marL="0">
              <a:buNone/>
            </a:pPr>
            <a:r>
              <a:rPr lang="en-US" sz="1300" u="sng" dirty="0">
                <a:solidFill>
                  <a:srgbClr val="000000"/>
                </a:solidFill>
                <a:hlinkClick r:id="rId8" invalidUrl="" action="" tgtFrame="" tooltip="" history="1" highlightClick="0" endSnd="0">
                  <a:extLst>
                    <a:ext uri="{A12FA001-AC4F-418D-AE19-62706E023703}">
                      <ahyp:hlinkClr xmlns:ahyp="http://schemas.microsoft.com/office/drawing/2018/hyperlinkcolor" val="tx"/>
                    </a:ext>
                  </a:extLst>
                </a:hlinkClick>
              </a:rPr>
              <a:t>github.com/pdjordj11/eng_220_aquifer_project/tree/main/data</a:t>
            </a:r>
            <a:endParaRPr lang="en-US" sz="1400" dirty="0"/>
          </a:p>
        </p:txBody>
      </p:sp>
    </p:spTree>
  </p:cSld>
  <p:clrMapOvr>
    <a:masterClrMapping/>
  </p:clrMapOvr>
</p:sld>
</file>

<file path=ppt/theme/theme1.xml><?xml version="1.0" encoding="utf-8"?>
<a:theme xmlns:a="http://schemas.openxmlformats.org/drawingml/2006/main" name="Beneath the Mesa">
  <a:themeElements>
    <a:clrScheme name="Beneath the Mesa">
      <a:dk1>
        <a:srgbClr val="0E2A3B"/>
      </a:dk1>
      <a:lt1>
        <a:srgbClr val="FFFFFF"/>
      </a:lt1>
      <a:dk2>
        <a:srgbClr val="12455C"/>
      </a:dk2>
      <a:lt2>
        <a:srgbClr val="EEF5F7"/>
      </a:lt2>
      <a:accent1>
        <a:srgbClr val="1B7A8C"/>
      </a:accent1>
      <a:accent2>
        <a:srgbClr val="C2703D"/>
      </a:accent2>
      <a:accent3>
        <a:srgbClr val="5FB3C4"/>
      </a:accent3>
      <a:accent4>
        <a:srgbClr val="D9A066"/>
      </a:accent4>
      <a:accent5>
        <a:srgbClr val="2E5E4E"/>
      </a:accent5>
      <a:accent6>
        <a:srgbClr val="5F7380"/>
      </a:accent6>
      <a:hlink>
        <a:srgbClr val="1B7A8C"/>
      </a:hlink>
      <a:folHlink>
        <a:srgbClr val="2E5E4E"/>
      </a:folHlink>
    </a:clrScheme>
    <a:fontScheme name="Beneath the Mes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Beneath the Mesa</dc:title>
  <dc:subject>ENG 220 Team 23 presentation</dc:subject>
  <dc:creator>ENG 220 Team 23</dc:creator>
  <cp:lastModifiedBy>ENG 220 Team 23</cp:lastModifiedBy>
  <cp:revision>1</cp:revision>
  <dcterms:created xsi:type="dcterms:W3CDTF">2026-10-29T21:23:06Z</dcterms:created>
  <dcterms:modified xsi:type="dcterms:W3CDTF">2026-10-29T21:23:06Z</dcterms:modified>
</cp:coreProperties>
</file>